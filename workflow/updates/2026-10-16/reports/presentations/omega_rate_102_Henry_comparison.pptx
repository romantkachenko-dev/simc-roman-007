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19758f47aae4515" /><Relationship Type="http://schemas.openxmlformats.org/officeDocument/2006/relationships/extended-properties" Target="/docProps/app.xml" Id="Rdf78c874caee4c1c" /><Relationship Type="http://schemas.openxmlformats.org/officeDocument/2006/relationships/officeDocument" Target="/ppt/presentation.xml" Id="R3a6e49b3825e4e7c" /></Relationships>
</file>

<file path=ppt/presentation.xml><?xml version="1.0" encoding="utf-8"?>
<p:presentation xmlns:p="http://schemas.openxmlformats.org/presentationml/2006/main">
  <p:sldMasterIdLst>
    <p:sldMasterId xmlns:r="http://schemas.openxmlformats.org/officeDocument/2006/relationships" id="2147483648" r:id="R096b783a7a2c44fb"/>
  </p:sldMasterIdLst>
  <p:notesMasterIdLst>
    <p:notesMasterId xmlns:r="http://schemas.openxmlformats.org/officeDocument/2006/relationships" r:id="R906ee503027a405f"/>
  </p:notesMasterIdLst>
  <p:sldIdLst>
    <p:sldId xmlns:r="http://schemas.openxmlformats.org/officeDocument/2006/relationships" id="256" r:id="R73c7b8512a5c4f4d"/>
    <p:sldId xmlns:r="http://schemas.openxmlformats.org/officeDocument/2006/relationships" id="257" r:id="R9e714af92d6c4c86"/>
    <p:sldId xmlns:r="http://schemas.openxmlformats.org/officeDocument/2006/relationships" id="258" r:id="R9c3c846717b1486a"/>
    <p:sldId xmlns:r="http://schemas.openxmlformats.org/officeDocument/2006/relationships" id="259" r:id="R12aadd7865894bca"/>
    <p:sldId xmlns:r="http://schemas.openxmlformats.org/officeDocument/2006/relationships" id="260" r:id="Ra9bac4102f6347aa"/>
    <p:sldId xmlns:r="http://schemas.openxmlformats.org/officeDocument/2006/relationships" id="261" r:id="Rb8620f6912ae4b22"/>
    <p:sldId xmlns:r="http://schemas.openxmlformats.org/officeDocument/2006/relationships" id="262" r:id="R64adc735e00442d8"/>
    <p:sldId xmlns:r="http://schemas.openxmlformats.org/officeDocument/2006/relationships" id="263" r:id="R1f0c7ff526fb47c5"/>
    <p:sldId xmlns:r="http://schemas.openxmlformats.org/officeDocument/2006/relationships" id="264" r:id="R14f35b2390e94039"/>
    <p:sldId xmlns:r="http://schemas.openxmlformats.org/officeDocument/2006/relationships" id="265" r:id="R6a0d5031cefc4127"/>
    <p:sldId xmlns:r="http://schemas.openxmlformats.org/officeDocument/2006/relationships" id="266" r:id="R15648f62dba34284"/>
    <p:sldId xmlns:r="http://schemas.openxmlformats.org/officeDocument/2006/relationships" id="267" r:id="R09b3a87db4af418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ff5906ec0aa4ddb" /><Relationship Type="http://schemas.openxmlformats.org/officeDocument/2006/relationships/slideMaster" Target="/ppt/slideMasters/slideMaster1.xml" Id="R096b783a7a2c44fb" /><Relationship Type="http://schemas.openxmlformats.org/officeDocument/2006/relationships/notesMaster" Target="/ppt/notesMasters/notesMaster1.xml" Id="R906ee503027a405f" /><Relationship Type="http://schemas.openxmlformats.org/officeDocument/2006/relationships/presProps" Target="/ppt/presProps.xml" Id="R9583ff6871914f85" /><Relationship Type="http://schemas.openxmlformats.org/officeDocument/2006/relationships/tableStyles" Target="/ppt/tableStyles.xml" Id="R87cd376f7cb448df" /><Relationship Type="http://schemas.openxmlformats.org/officeDocument/2006/relationships/slide" Target="/ppt/slides/slide1.xml" Id="R73c7b8512a5c4f4d" /><Relationship Type="http://schemas.openxmlformats.org/officeDocument/2006/relationships/slide" Target="/ppt/slides/slide2.xml" Id="R9e714af92d6c4c86" /><Relationship Type="http://schemas.openxmlformats.org/officeDocument/2006/relationships/slide" Target="/ppt/slides/slide3.xml" Id="R9c3c846717b1486a" /><Relationship Type="http://schemas.openxmlformats.org/officeDocument/2006/relationships/slide" Target="/ppt/slides/slide4.xml" Id="R12aadd7865894bca" /><Relationship Type="http://schemas.openxmlformats.org/officeDocument/2006/relationships/slide" Target="/ppt/slides/slide5.xml" Id="Ra9bac4102f6347aa" /><Relationship Type="http://schemas.openxmlformats.org/officeDocument/2006/relationships/slide" Target="/ppt/slides/slide6.xml" Id="Rb8620f6912ae4b22" /><Relationship Type="http://schemas.openxmlformats.org/officeDocument/2006/relationships/slide" Target="/ppt/slides/slide7.xml" Id="R64adc735e00442d8" /><Relationship Type="http://schemas.openxmlformats.org/officeDocument/2006/relationships/slide" Target="/ppt/slides/slide8.xml" Id="R1f0c7ff526fb47c5" /><Relationship Type="http://schemas.openxmlformats.org/officeDocument/2006/relationships/slide" Target="/ppt/slides/slide9.xml" Id="R14f35b2390e94039" /><Relationship Type="http://schemas.openxmlformats.org/officeDocument/2006/relationships/slide" Target="/ppt/slides/slide10.xml" Id="R6a0d5031cefc4127" /><Relationship Type="http://schemas.openxmlformats.org/officeDocument/2006/relationships/slide" Target="/ppt/slides/slide11.xml" Id="R15648f62dba34284" /><Relationship Type="http://schemas.openxmlformats.org/officeDocument/2006/relationships/slide" Target="/ppt/slides/slide12.xml" Id="R09b3a87db4af418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51c9099a12b4cf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85e6a2cf8954527" /><Relationship Type="http://schemas.openxmlformats.org/officeDocument/2006/relationships/notesMaster" Target="/ppt/notesMasters/notesMaster1.xml" Id="R00e7861de15a4a62"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8e6af71afe457c" /><Relationship Type="http://schemas.openxmlformats.org/officeDocument/2006/relationships/notesMaster" Target="/ppt/notesMasters/notesMaster1.xml" Id="Rb2a8e4ab3bf14ed8" /></Relationships>
</file>

<file path=ppt/notesSlides/_rels/notesSlide3.xml.rels>&#65279;<?xml version="1.0" encoding="utf-8"?><Relationships xmlns="http://schemas.openxmlformats.org/package/2006/relationships"><Relationship Type="http://schemas.openxmlformats.org/officeDocument/2006/relationships/slide" Target="/ppt/slides/slide3.xml" Id="R5038b5ea078d4fdd" /><Relationship Type="http://schemas.openxmlformats.org/officeDocument/2006/relationships/notesMaster" Target="/ppt/notesMasters/notesMaster1.xml" Id="R122e6f9e987b4c31" /></Relationships>
</file>

<file path=ppt/notesSlides/_rels/notesSlide4.xml.rels>&#65279;<?xml version="1.0" encoding="utf-8"?><Relationships xmlns="http://schemas.openxmlformats.org/package/2006/relationships"><Relationship Type="http://schemas.openxmlformats.org/officeDocument/2006/relationships/slide" Target="/ppt/slides/slide4.xml" Id="Rda876a2925b142b5" /><Relationship Type="http://schemas.openxmlformats.org/officeDocument/2006/relationships/notesMaster" Target="/ppt/notesMasters/notesMaster1.xml" Id="R966882a746724842" /></Relationships>
</file>

<file path=ppt/notesSlides/_rels/notesSlide5.xml.rels>&#65279;<?xml version="1.0" encoding="utf-8"?><Relationships xmlns="http://schemas.openxmlformats.org/package/2006/relationships"><Relationship Type="http://schemas.openxmlformats.org/officeDocument/2006/relationships/slide" Target="/ppt/slides/slide5.xml" Id="Rb2719798dccd4544" /><Relationship Type="http://schemas.openxmlformats.org/officeDocument/2006/relationships/notesMaster" Target="/ppt/notesMasters/notesMaster1.xml" Id="R5deddb222e0f4138" /></Relationships>
</file>

<file path=ppt/notesSlides/_rels/notesSlide6.xml.rels>&#65279;<?xml version="1.0" encoding="utf-8"?><Relationships xmlns="http://schemas.openxmlformats.org/package/2006/relationships"><Relationship Type="http://schemas.openxmlformats.org/officeDocument/2006/relationships/slide" Target="/ppt/slides/slide6.xml" Id="R5f40d9bc9d3d46a0" /><Relationship Type="http://schemas.openxmlformats.org/officeDocument/2006/relationships/notesMaster" Target="/ppt/notesMasters/notesMaster1.xml" Id="R3c4b3104a6d44a1c" /></Relationships>
</file>

<file path=ppt/notesSlides/_rels/notesSlide7.xml.rels>&#65279;<?xml version="1.0" encoding="utf-8"?><Relationships xmlns="http://schemas.openxmlformats.org/package/2006/relationships"><Relationship Type="http://schemas.openxmlformats.org/officeDocument/2006/relationships/slide" Target="/ppt/slides/slide7.xml" Id="Rdb214117c0944499" /><Relationship Type="http://schemas.openxmlformats.org/officeDocument/2006/relationships/notesMaster" Target="/ppt/notesMasters/notesMaster1.xml" Id="Ra54b152b39fb4b03" /></Relationships>
</file>

<file path=ppt/notesSlides/_rels/notesSlide8.xml.rels>&#65279;<?xml version="1.0" encoding="utf-8"?><Relationships xmlns="http://schemas.openxmlformats.org/package/2006/relationships"><Relationship Type="http://schemas.openxmlformats.org/officeDocument/2006/relationships/slide" Target="/ppt/slides/slide8.xml" Id="R6c715a9226ad48fb" /><Relationship Type="http://schemas.openxmlformats.org/officeDocument/2006/relationships/notesMaster" Target="/ppt/notesMasters/notesMaster1.xml" Id="R8995470db3d94465" /></Relationships>
</file>

<file path=ppt/notesSlides/_rels/notesSlide9.xml.rels>&#65279;<?xml version="1.0" encoding="utf-8"?><Relationships xmlns="http://schemas.openxmlformats.org/package/2006/relationships"><Relationship Type="http://schemas.openxmlformats.org/officeDocument/2006/relationships/slide" Target="/ppt/slides/slide9.xml" Id="R5593dd0de5d245df" /><Relationship Type="http://schemas.openxmlformats.org/officeDocument/2006/relationships/notesMaster" Target="/ppt/notesMasters/notesMaster1.xml" Id="R5ce885dc1ee645d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211f0744b3f480a" /><Relationship Type="http://schemas.openxmlformats.org/officeDocument/2006/relationships/notesMaster" Target="/ppt/notesMasters/notesMaster1.xml" Id="R38133ff9b2dd44a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51269b7df0b4b1f" /><Relationship Type="http://schemas.openxmlformats.org/officeDocument/2006/relationships/notesMaster" Target="/ppt/notesMasters/notesMaster1.xml" Id="R2d8c6a519c5645d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da34b8c102e4262" /><Relationship Type="http://schemas.openxmlformats.org/officeDocument/2006/relationships/notesMaster" Target="/ppt/notesMasters/notesMaster1.xml" Id="Rb0c189ecea2a492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Скажи: Ми порахували очікуваний вихід лише omega для 70 мікроамперів і однієї години. Отримали 101.6, округлено 102 події після наших cuts. Це абсолютний модельний прогноз для цього запуску, а не нормалізація до Pythia. Додаткові ефективності детекторів і live time ще не враховано. Числа Генрі знайшли у PDF, але умови двох оцінок ще треба узгодити.</a:t>
            </a:r>
          </a:p>
          <a:p xmlns:a="http://schemas.openxmlformats.org/drawingml/2006/main">
            <a:r>
              <a:t>Sources: D:/EIC/SIMC_RUNS/ACPOSTUMA_SIMC_GFORTRAN/omega_rate_audit_70uA_1h/summary.json; D:/EIC/SIMC_RUNS/ACPOSTUMA_SIMC_GFORTRAN/audit_omega_rate.py; D:/EIC/SIMC_RUNS/ACPOSTUMA_SIMC_GFORTRAN/runs/omega_Roman_007/omega_Roman_007.inp and .hist. Archived source commit b6025c462ef33eeb620bdf4b399cd602c92e89bf.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Скажи: Тут перелічені саме значення з input нашого omega-запуску. Input позначено provisional, тому не слід називати їх підтвердженим експериментальним налаштуванням. Товщина мішені 733.2 мг/см², густина 0.07332 г/см³, довжина 10 см.</a:t>
            </a:r>
          </a:p>
          <a:p xmlns:a="http://schemas.openxmlformats.org/drawingml/2006/main">
            <a:r>
              <a:t>Sources: D:/EIC/SIMC_RUNS/ACPOSTUMA_SIMC_GFORTRAN/omega_rate_audit_70uA_1h/summary.json; D:/EIC/SIMC_RUNS/ACPOSTUMA_SIMC_GFORTRAN/audit_omega_rate.py; D:/EIC/SIMC_RUNS/ACPOSTUMA_SIMC_GFORTRAN/runs/omega_Roman_007/omega_Roman_007.inp and .hist. Archived source commit b6025c462ef33eeb620bdf4b399cd602c92e89bf.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Скажи: Генератор зробив 136898 спроб і зберіг 1000 успішних подій після транспорту через спектрометри. До цих подій ми застосували додаткові analysis cuts. Залишилося 595. Це кількість MC-подій, а не очікувані події за годину. hs позначає HMS, ss позначає SHMS. xptar і yptar тут нахили траєкторій. Не додаємо окремий коефіцієнт 595/1000, оскільки відбір уже врахований у сумі ваг.</a:t>
            </a:r>
          </a:p>
          <a:p xmlns:a="http://schemas.openxmlformats.org/drawingml/2006/main">
            <a:r>
              <a:t>Sources: D:/EIC/SIMC_RUNS/ACPOSTUMA_SIMC_GFORTRAN/omega_rate_audit_70uA_1h/summary.json; D:/EIC/SIMC_RUNS/ACPOSTUMA_SIMC_GFORTRAN/audit_omega_rate.py; D:/EIC/SIMC_RUNS/ACPOSTUMA_SIMC_GFORTRAN/runs/omega_Roman_007/omega_Roman_007.inp and .hist. Archived source commit b6025c462ef33eeb620bdf4b399cd602c92e89bf.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Скажи: Weight у ROOT походить із фізичної моделі SIMC, а не з ручного коефіцієнта графіка. event.f формує main%weight із SF_weight, jacobian, gen_weight, sigcc та наступного target-weight factor. results_write.f записує це у ROOT. Для omega sigcc надходить із peep_omega. Нормалізація normfac містить luminosity, genvol і відношення успішних подій до спроб. Для цього запуску знаменник дорівнює 1000, не 595.</a:t>
            </a:r>
          </a:p>
          <a:p xmlns:a="http://schemas.openxmlformats.org/drawingml/2006/main">
            <a:r>
              <a:t>Exact source: b6025c4 event.f:1714,1779 and following target-weight operation; results_write.f:148; simc.f:379,408,1008; physics_omega.f:196,264.</a:t>
            </a:r>
          </a:p>
          <a:p xmlns:a="http://schemas.openxmlformats.org/drawingml/2006/main">
            <a:r>
              <a:t>Sources: D:/EIC/SIMC_RUNS/ACPOSTUMA_SIMC_GFORTRAN/omega_rate_audit_70uA_1h/summary.json; D:/EIC/SIMC_RUNS/ACPOSTUMA_SIMC_GFORTRAN/audit_omega_rate.py; D:/EIC/SIMC_RUNS/ACPOSTUMA_SIMC_GFORTRAN/runs/omega_Roman_007/omega_Roman_007.inp and .hist. Archived source commit b6025c462ef33eeb620bdf4b399cd602c92e89bf.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Скажи: Спочатку переводимо струм у заряд. 70 мікроамперів помножити на 3600 секунд дає 0.252 кулона або 252 мілікулони. У початковому запуску заряд 1 мілікулон. Сума відібраних ваг із нормалізацією дає 0.403104 події на мілікулон. Множимо на 252, отримуємо 101.582, округлено 102. Жоден коефіцієнт фіту чи Pythia сюди не входить.</a:t>
            </a:r>
          </a:p>
          <a:p xmlns:a="http://schemas.openxmlformats.org/drawingml/2006/main">
            <a:r>
              <a:t>Sources: D:/EIC/SIMC_RUNS/ACPOSTUMA_SIMC_GFORTRAN/omega_rate_audit_70uA_1h/summary.json; D:/EIC/SIMC_RUNS/ACPOSTUMA_SIMC_GFORTRAN/audit_omega_rate.py; D:/EIC/SIMC_RUNS/ACPOSTUMA_SIMC_GFORTRAN/runs/omega_Roman_007/omega_Roman_007.inp and .hist. Archived source commit b6025c462ef33eeb620bdf4b399cd602c92e89bf.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Скажи: Ми перевірили процедуру незалежним відтворенням інтегрованого виходу, надрукованого SIMC. Для цього використали саме внутрішні legacy cuts коду, а не наші analysis cuts. Отримали той самий результат у межах округлення. Це перевірка арифметики нормалізації, а не перевірка фізичної моделі. normfac уже враховує Ntried, тому вдруге ділити на число спроб не можна.</a:t>
            </a:r>
          </a:p>
          <a:p xmlns:a="http://schemas.openxmlformats.org/drawingml/2006/main">
            <a:r>
              <a:t>The audit reproduces archived internal pass_cuts literally. They differ from our requested cuts and include the legacy proton-upper-delta edge expression. hard_cuts=0 does not discard stored events using that diagnostic cut.</a:t>
            </a:r>
          </a:p>
          <a:p xmlns:a="http://schemas.openxmlformats.org/drawingml/2006/main">
            <a:r>
              <a:t>Sources: D:/EIC/SIMC_RUNS/ACPOSTUMA_SIMC_GFORTRAN/omega_rate_audit_70uA_1h/summary.json; D:/EIC/SIMC_RUNS/ACPOSTUMA_SIMC_GFORTRAN/audit_omega_rate.py; D:/EIC/SIMC_RUNS/ACPOSTUMA_SIMC_GFORTRAN/runs/omega_Roman_007/omega_Roman_007.inp and .hist. Archived source commit b6025c462ef33eeb620bdf4b399cd602c92e89bf.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Скажи: У PDF є 44 підписи Nomega плюс-мінус похибка. Ми підсумували центральні округлені значення, не висоти піків. Суми за чотирма W-рядками: 11228,16431,13348,9285. Разом 50292. Скрипт задає Nomega як кількість подій у вікні 0.73–0.84 мінус фітований фон. Загальна область 1.80≤W&lt;2.40 GeV і 0.82≤|t|&lt;1.10 GeV². Файл має назву 1over35, а скрипт трактує цей tag як один день. За такого припущення 50292/24=2095.5 за годину. Версію PDF проти скрипту ще не відтворено з ROOT. CSV дасть неокруглені значення.</a:t>
            </a:r>
          </a:p>
          <a:p xmlns:a="http://schemas.openxmlformats.org/drawingml/2006/main">
            <a:r>
              <a:t>Sources: D:/EIC/Reference/omega_mx_grid_1over35.pdf, all 44 central labels; D:/EIC/Reference/plot_exp_1over35.py lines 51–56,145–169,187–190. Read-only extraction: .build/read_henry.py and henry_summary.json.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Скажи: Поруч показуємо два числа, але не називаємо їх узгодженим фізичним порівнянням. Наш SIMC рахує omega-only модельний yield після cuts, Генрі отримує omega із віднімання фону в Pythia. У його скрипті немає змінної beam current чи наших hs/ss cuts: вони могли бути застосовані раніше, при створенні Analyzed_Pythia_557p034_thin.root. Також різняться межі W,t,Mx. На скріншоті Генрі дав шлях nominal_rad_15cm_H300_S220.inp, але вміст цього input у нас не перевірено. Не можна виводити точну товщину або прапорці радіації тільки з назви.</a:t>
            </a:r>
          </a:p>
          <a:p xmlns:a="http://schemas.openxmlformats.org/drawingml/2006/main">
            <a:r>
              <a:t>Sources: D:/EIC/Reference/plot_exp_1over35.py lines 41–56,123–169. Henry screenshot supplied 2026-09-28 referencing /work/clas12/klest/simc/work/Proposal/inputs/nominal_rad_15cm_H300_S220.inp. Sources: D:/EIC/SIMC_RUNS/ACPOSTUMA_SIMC_GFORTRAN/omega_rate_audit_70uA_1h/summary.json; D:/EIC/SIMC_RUNS/ACPOSTUMA_SIMC_GFORTRAN/audit_omega_rate.py; D:/EIC/SIMC_RUNS/ACPOSTUMA_SIMC_GFORTRAN/runs/omega_Roman_007/omega_Roman_007.inp and .hist. Archived source commit b6025c462ef33eeb620bdf4b399cd602c92e89bf.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Скажи: Є важливі обмеження. Наш електронний generation domain доходить лише до +10.5% delta, а analysis cut дозволяє +22%. Треба перевірити покриття і лише за потреби розширити генерацію, не вгадувати внесок. Радіація, енерговтрати і smearing вимкнені. Ефективності tracking, PID, trigger та DAQ live time не включено. Генрі й Біл мають підтвердити модель omega і фактичні експериментальні умови. Лише після однакових cuts, масового вікна, W/t області та exposure можна порахувати змістовне відношення нашого результату до Генрі.</a:t>
            </a:r>
          </a:p>
          <a:p xmlns:a="http://schemas.openxmlformats.org/drawingml/2006/main">
            <a:r>
              <a:t>Sources: D:/EIC/SIMC_RUNS/ACPOSTUMA_SIMC_GFORTRAN/omega_rate_audit_70uA_1h/summary.json; D:/EIC/SIMC_RUNS/ACPOSTUMA_SIMC_GFORTRAN/audit_omega_rate.py; D:/EIC/SIMC_RUNS/ACPOSTUMA_SIMC_GFORTRAN/runs/omega_Roman_007/omega_Roman_007.inp and .hist. Archived source commit b6025c462ef33eeb620bdf4b399cd602c92e89bf.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Скажи: Цей фрагмент показує точний порядок арифметики. Значення normfac, stored event count і input charge взято з .hist, а cut_w — із оригінального ROOT Weight для подій, що пройшли analysis cuts. Усі 1000 ваг omega позитивні. audit_omega_rate.py зберігає перевірки та SHA256 джерел. Не слід запускати його поверх існуючого звіту: скрипт спеціально захищає попередній результат.</a:t>
            </a:r>
          </a:p>
          <a:p xmlns:a="http://schemas.openxmlformats.org/drawingml/2006/main">
            <a:r>
              <a:t>Sources: D:/EIC/SIMC_RUNS/ACPOSTUMA_SIMC_GFORTRAN/omega_rate_audit_70uA_1h/summary.json; D:/EIC/SIMC_RUNS/ACPOSTUMA_SIMC_GFORTRAN/audit_omega_rate.py; D:/EIC/SIMC_RUNS/ACPOSTUMA_SIMC_GFORTRAN/runs/omega_Roman_007/omega_Roman_007.inp and .hist. Archived source commit b6025c462ef33eeb620bdf4b399cd602c92e89bf.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Джерело: D:/EIC/Reference/omega_mx_grid_1over35.pdf, complete page 1. Source figure preserved. Black spectra are counts, orange curves are fitted backgrounds, grey spans mark the signal window. Each label is a rounded extracted yield with its uncertainty. Numbers, not peak heights, were summed on slide 7. Script: D:/EIC/Reference/plot_exp_1over35.py lines 159–169 and 192–218.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Джерело: D:/EIC/Reference/omega_xsec_1over35.pdf page 1, unchanged full source figure. D:/EIC/Reference/plot_exp_1over35.py lines 68–73 and 165–176 sets ds_dt to A exp(-5t), with A=[10,20,30,40] for ascending W bins. It propagates the relative extracted-yield uncertainty to this assumed cross section and adds a 10 percent systematic term. Thus the central cross sections are model inputs of the plotting script, not independent cross sections extracted by dividing the fitted yields by luminosity and acceptance. This distinction matters for the proposed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74181da123465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0cb1807a669484a" /><Relationship Type="http://schemas.openxmlformats.org/officeDocument/2006/relationships/slideLayout" Target="/ppt/slideLayouts/slideLayout1.xml" Id="R48040f937371404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8040f937371404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2663880f51d41ce" /><Relationship Type="http://schemas.openxmlformats.org/officeDocument/2006/relationships/notesSlide" Target="/ppt/notesSlides/notesSlide1.xml" Id="R13e7493a7ff4445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ef0cdc8a3af4626" /><Relationship Type="http://schemas.openxmlformats.org/officeDocument/2006/relationships/notesSlide" Target="/ppt/notesSlides/notesSlide2.xml" Id="Rf394736e9b4d43a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36033e0abbd4d8e" /><Relationship Type="http://schemas.openxmlformats.org/officeDocument/2006/relationships/notesSlide" Target="/ppt/notesSlides/notesSlide3.xml" Id="Rd96d59b73cf14f1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b8fc66126034150" /><Relationship Type="http://schemas.openxmlformats.org/officeDocument/2006/relationships/notesSlide" Target="/ppt/notesSlides/notesSlide4.xml" Id="Rfdb665b2299b455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8a5f77ab8504521" /><Relationship Type="http://schemas.openxmlformats.org/officeDocument/2006/relationships/notesSlide" Target="/ppt/notesSlides/notesSlide5.xml" Id="R207f31292ca0435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bef7fc36ef64f3b" /><Relationship Type="http://schemas.openxmlformats.org/officeDocument/2006/relationships/notesSlide" Target="/ppt/notesSlides/notesSlide6.xml" Id="Rb89a14403edc424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7b88cad599341cb" /><Relationship Type="http://schemas.openxmlformats.org/officeDocument/2006/relationships/notesSlide" Target="/ppt/notesSlides/notesSlide7.xml" Id="R760f024253fe417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a582de8771745ae" /><Relationship Type="http://schemas.openxmlformats.org/officeDocument/2006/relationships/notesSlide" Target="/ppt/notesSlides/notesSlide8.xml" Id="Re4f8eab335e54e5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0c9dba7ad994c4a" /><Relationship Type="http://schemas.openxmlformats.org/officeDocument/2006/relationships/notesSlide" Target="/ppt/notesSlides/notesSlide9.xml" Id="Re4c7c0a52f0940a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de90206d35e46ea" /><Relationship Type="http://schemas.openxmlformats.org/officeDocument/2006/relationships/notesSlide" Target="/ppt/notesSlides/notesSlide10.xml" Id="R8d27f2a2ca6b495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c2e411b20394c25" /><Relationship Type="http://schemas.openxmlformats.org/officeDocument/2006/relationships/image" Target="/ppt/media/image.png" Id="Rec808195a4604b53" /><Relationship Type="http://schemas.openxmlformats.org/officeDocument/2006/relationships/notesSlide" Target="/ppt/notesSlides/notesSlide11.xml" Id="R776e65e3df194c4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bc199202e834787" /><Relationship Type="http://schemas.openxmlformats.org/officeDocument/2006/relationships/image" Target="/ppt/media/image2.png" Id="Ra6d86cf93a72436b" /><Relationship Type="http://schemas.openxmlformats.org/officeDocument/2006/relationships/notesSlide" Target="/ppt/notesSlides/notesSlide12.xml" Id="R6cbe072d53d44d6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148C417-67FF-4698-9AFD-E53BEBD8DB32}"/>
              </a:ext>
            </a:extLst>
          </p:cNvPr>
          <p:cNvSpPr>
            <a:spLocks xmlns:a="http://schemas.openxmlformats.org/drawingml/2006/main" noGrp="1"/>
          </p:cNvSpPr>
          <p:nvPr/>
        </p:nvSpPr>
        <p:spPr>
          <a:xfrm xmlns:a="http://schemas.openxmlformats.org/drawingml/2006/main">
            <a:off x="609600" y="3810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E43"/>
                </a:solidFill>
                <a:latin typeface="Arial"/>
                <a:ea typeface="Arial"/>
                <a:cs typeface="Arial"/>
              </a:defRPr>
            </a:pPr>
            <a:r>
              <a:rPr sz="3225" b="1">
                <a:solidFill>
                  <a:srgbClr val="172E43"/>
                </a:solidFill>
                <a:latin typeface="Arial"/>
                <a:ea typeface="Arial"/>
                <a:cs typeface="Arial"/>
              </a:rPr>
              <a:t>Omega event-rate estimate</a:t>
            </a:r>
          </a:p>
        </p:txBody>
      </p:sp>
      <p:sp>
        <p:nvSpPr>
          <p:cNvPr id="2" name="">
            <a:extLst xmlns:a="http://schemas.openxmlformats.org/drawingml/2006/main">
              <a:ext uri="{FF2B5EF4-FFF2-40B4-BE49-F238E27FC236}">
                <a16:creationId xmlns:a16="http://schemas.microsoft.com/office/drawing/2014/main" id="{F2EB9CF5-FB82-4B2A-8EDF-B7A7DE5E211C}"/>
              </a:ext>
            </a:extLst>
          </p:cNvPr>
          <p:cNvSpPr>
            <a:spLocks xmlns:a="http://schemas.openxmlformats.org/drawingml/2006/main" noGrp="1"/>
          </p:cNvSpPr>
          <p:nvPr/>
        </p:nvSpPr>
        <p:spPr>
          <a:xfrm xmlns:a="http://schemas.openxmlformats.org/drawingml/2006/main">
            <a:off x="1108710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271"/>
                </a:solidFill>
                <a:latin typeface="Arial"/>
                <a:ea typeface="Arial"/>
                <a:cs typeface="Arial"/>
              </a:defRPr>
            </a:pPr>
            <a:r>
              <a:rPr sz="1275" b="0">
                <a:solidFill>
                  <a:srgbClr val="506271"/>
                </a:solidFill>
                <a:latin typeface="Arial"/>
                <a:ea typeface="Arial"/>
                <a:cs typeface="Arial"/>
              </a:rPr>
              <a:t>1</a:t>
            </a:r>
          </a:p>
        </p:txBody>
      </p:sp>
      <p:sp>
        <p:nvSpPr>
          <p:cNvPr id="3" name="">
            <a:extLst xmlns:a="http://schemas.openxmlformats.org/drawingml/2006/main">
              <a:ext uri="{FF2B5EF4-FFF2-40B4-BE49-F238E27FC236}">
                <a16:creationId xmlns:a16="http://schemas.microsoft.com/office/drawing/2014/main" id="{FB6F132B-5166-438D-9546-5865582ADF07}"/>
              </a:ext>
            </a:extLst>
          </p:cNvPr>
          <p:cNvSpPr>
            <a:spLocks xmlns:a="http://schemas.openxmlformats.org/drawingml/2006/main" noGrp="1"/>
          </p:cNvSpPr>
          <p:nvPr/>
        </p:nvSpPr>
        <p:spPr>
          <a:xfrm xmlns:a="http://schemas.openxmlformats.org/drawingml/2006/main">
            <a:off x="609600" y="16478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55C95"/>
                </a:solidFill>
                <a:latin typeface="Arial"/>
                <a:ea typeface="Arial"/>
                <a:cs typeface="Arial"/>
              </a:defRPr>
            </a:pPr>
            <a:r>
              <a:rPr sz="3600" b="1">
                <a:solidFill>
                  <a:srgbClr val="155C95"/>
                </a:solidFill>
                <a:latin typeface="Arial"/>
                <a:ea typeface="Arial"/>
                <a:cs typeface="Arial"/>
              </a:rPr>
              <a:t>How the SIMC calculation gives ≈102 events</a:t>
            </a:r>
          </a:p>
        </p:txBody>
      </p:sp>
      <p:sp>
        <p:nvSpPr>
          <p:cNvPr id="4" name="">
            <a:extLst xmlns:a="http://schemas.openxmlformats.org/drawingml/2006/main">
              <a:ext uri="{FF2B5EF4-FFF2-40B4-BE49-F238E27FC236}">
                <a16:creationId xmlns:a16="http://schemas.microsoft.com/office/drawing/2014/main" id="{F78E992C-8286-4B15-BAE6-E00004D5AD1E}"/>
              </a:ext>
            </a:extLst>
          </p:cNvPr>
          <p:cNvSpPr>
            <a:spLocks xmlns:a="http://schemas.openxmlformats.org/drawingml/2006/main" noGrp="1"/>
          </p:cNvSpPr>
          <p:nvPr/>
        </p:nvSpPr>
        <p:spPr>
          <a:xfrm xmlns:a="http://schemas.openxmlformats.org/drawingml/2006/main">
            <a:off x="609600" y="2781300"/>
            <a:ext cx="10668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2E43"/>
                </a:solidFill>
                <a:latin typeface="Arial"/>
                <a:ea typeface="Arial"/>
                <a:cs typeface="Arial"/>
              </a:defRPr>
            </a:pPr>
            <a:r>
              <a:rPr sz="2400" b="0">
                <a:solidFill>
                  <a:srgbClr val="172E43"/>
                </a:solidFill>
                <a:latin typeface="Arial"/>
                <a:ea typeface="Arial"/>
                <a:cs typeface="Arial"/>
              </a:rPr>
              <a:t>70 μA beam current</a:t>
            </a:r>
          </a:p>
          <a:p xmlns:a="http://schemas.openxmlformats.org/drawingml/2006/main">
            <a:pPr>
              <a:defRPr sz="2400" b="0">
                <a:solidFill>
                  <a:srgbClr val="172E43"/>
                </a:solidFill>
                <a:latin typeface="Arial"/>
                <a:ea typeface="Arial"/>
                <a:cs typeface="Arial"/>
              </a:defRPr>
            </a:pPr>
            <a:r>
              <a:rPr sz="2400" b="0">
                <a:solidFill>
                  <a:srgbClr val="172E43"/>
                </a:solidFill>
                <a:latin typeface="Arial"/>
                <a:ea typeface="Arial"/>
                <a:cs typeface="Arial"/>
              </a:rPr>
              <a:t>1 hour of beam time</a:t>
            </a:r>
          </a:p>
          <a:p xmlns:a="http://schemas.openxmlformats.org/drawingml/2006/main">
            <a:pPr>
              <a:defRPr sz="2400" b="0">
                <a:solidFill>
                  <a:srgbClr val="172E43"/>
                </a:solidFill>
                <a:latin typeface="Arial"/>
                <a:ea typeface="Arial"/>
                <a:cs typeface="Arial"/>
              </a:defRPr>
            </a:pPr>
            <a:r>
              <a:rPr sz="2400" b="0">
                <a:solidFill>
                  <a:srgbClr val="172E43"/>
                </a:solidFill>
                <a:latin typeface="Arial"/>
                <a:ea typeface="Arial"/>
                <a:cs typeface="Arial"/>
              </a:rPr>
              <a:t>Omega channel after analysis cuts</a:t>
            </a:r>
          </a:p>
        </p:txBody>
      </p:sp>
      <p:sp>
        <p:nvSpPr>
          <p:cNvPr id="5" name="">
            <a:extLst xmlns:a="http://schemas.openxmlformats.org/drawingml/2006/main">
              <a:ext uri="{FF2B5EF4-FFF2-40B4-BE49-F238E27FC236}">
                <a16:creationId xmlns:a16="http://schemas.microsoft.com/office/drawing/2014/main" id="{27DC7EDF-30AF-4370-A733-C6A11FD23815}"/>
              </a:ext>
            </a:extLst>
          </p:cNvPr>
          <p:cNvSpPr>
            <a:spLocks xmlns:a="http://schemas.openxmlformats.org/drawingml/2006/main" noGrp="1"/>
          </p:cNvSpPr>
          <p:nvPr/>
        </p:nvSpPr>
        <p:spPr>
          <a:xfrm xmlns:a="http://schemas.openxmlformats.org/drawingml/2006/main">
            <a:off x="609600" y="50958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945419"/>
                </a:solidFill>
                <a:latin typeface="Arial"/>
                <a:ea typeface="Arial"/>
                <a:cs typeface="Arial"/>
              </a:defRPr>
            </a:pPr>
            <a:r>
              <a:rPr sz="1950" b="0">
                <a:solidFill>
                  <a:srgbClr val="945419"/>
                </a:solidFill>
                <a:latin typeface="Arial"/>
                <a:ea typeface="Arial"/>
                <a:cs typeface="Arial"/>
              </a:rPr>
              <a:t>Preliminary model prediction within the generated phase space</a:t>
            </a:r>
          </a:p>
        </p:txBody>
      </p:sp>
      <p:sp>
        <p:nvSpPr>
          <p:cNvPr id="6" name="">
            <a:extLst xmlns:a="http://schemas.openxmlformats.org/drawingml/2006/main">
              <a:ext uri="{FF2B5EF4-FFF2-40B4-BE49-F238E27FC236}">
                <a16:creationId xmlns:a16="http://schemas.microsoft.com/office/drawing/2014/main" id="{1BB17130-4159-4B3A-8840-3AF973749857}"/>
              </a:ext>
            </a:extLst>
          </p:cNvPr>
          <p:cNvSpPr>
            <a:spLocks xmlns:a="http://schemas.openxmlformats.org/drawingml/2006/main" noGrp="1"/>
          </p:cNvSpPr>
          <p:nvPr/>
        </p:nvSpPr>
        <p:spPr>
          <a:xfrm xmlns:a="http://schemas.openxmlformats.org/drawingml/2006/main">
            <a:off x="609600" y="56388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271"/>
                </a:solidFill>
                <a:latin typeface="Arial"/>
                <a:ea typeface="Arial"/>
                <a:cs typeface="Arial"/>
              </a:defRPr>
            </a:pPr>
            <a:r>
              <a:rPr sz="1950" b="0">
                <a:solidFill>
                  <a:srgbClr val="506271"/>
                </a:solidFill>
                <a:latin typeface="Arial"/>
                <a:ea typeface="Arial"/>
                <a:cs typeface="Arial"/>
              </a:rPr>
              <a:t>Henry’s projected yield is available. Comparison conditions need matching.</a:t>
            </a:r>
          </a:p>
        </p:txBody>
      </p:sp>
    </p:spTree>
    <p:extLst>
      <p:ext uri="{BB962C8B-B14F-4D97-AF65-F5344CB8AC3E}">
        <p14:creationId xmlns:p14="http://schemas.microsoft.com/office/powerpoint/2010/main" val="115962594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3639C56-0BE0-4559-A58F-746BDB3E1A1E}"/>
              </a:ext>
            </a:extLst>
          </p:cNvPr>
          <p:cNvSpPr>
            <a:spLocks xmlns:a="http://schemas.openxmlformats.org/drawingml/2006/main" noGrp="1"/>
          </p:cNvSpPr>
          <p:nvPr/>
        </p:nvSpPr>
        <p:spPr>
          <a:xfrm xmlns:a="http://schemas.openxmlformats.org/drawingml/2006/main">
            <a:off x="609600" y="3810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E43"/>
                </a:solidFill>
                <a:latin typeface="Arial"/>
                <a:ea typeface="Arial"/>
                <a:cs typeface="Arial"/>
              </a:defRPr>
            </a:pPr>
            <a:r>
              <a:rPr sz="3225" b="1">
                <a:solidFill>
                  <a:srgbClr val="172E43"/>
                </a:solidFill>
                <a:latin typeface="Arial"/>
                <a:ea typeface="Arial"/>
                <a:cs typeface="Arial"/>
              </a:rPr>
              <a:t>Simulation settings</a:t>
            </a:r>
          </a:p>
        </p:txBody>
      </p:sp>
      <p:sp>
        <p:nvSpPr>
          <p:cNvPr id="2" name="">
            <a:extLst xmlns:a="http://schemas.openxmlformats.org/drawingml/2006/main">
              <a:ext uri="{FF2B5EF4-FFF2-40B4-BE49-F238E27FC236}">
                <a16:creationId xmlns:a16="http://schemas.microsoft.com/office/drawing/2014/main" id="{1E071FFC-1741-4068-BF92-78F2CC9F937C}"/>
              </a:ext>
            </a:extLst>
          </p:cNvPr>
          <p:cNvSpPr>
            <a:spLocks xmlns:a="http://schemas.openxmlformats.org/drawingml/2006/main" noGrp="1"/>
          </p:cNvSpPr>
          <p:nvPr/>
        </p:nvSpPr>
        <p:spPr>
          <a:xfrm xmlns:a="http://schemas.openxmlformats.org/drawingml/2006/main">
            <a:off x="1108710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271"/>
                </a:solidFill>
                <a:latin typeface="Arial"/>
                <a:ea typeface="Arial"/>
                <a:cs typeface="Arial"/>
              </a:defRPr>
            </a:pPr>
            <a:r>
              <a:rPr sz="1275" b="0">
                <a:solidFill>
                  <a:srgbClr val="506271"/>
                </a:solidFill>
                <a:latin typeface="Arial"/>
                <a:ea typeface="Arial"/>
                <a:cs typeface="Arial"/>
              </a:rPr>
              <a:t>2</a:t>
            </a:r>
          </a:p>
        </p:txBody>
      </p:sp>
      <p:graphicFrame>
        <p:nvGraphicFramePr>
          <p:cNvPr id="7" name=""/>
          <p:cNvGraphicFramePr/>
          <p:nvPr/>
        </p:nvGraphicFramePr>
        <p:xfrm>
          <a:off xmlns:a="http://schemas.openxmlformats.org/drawingml/2006/main" x="609600" y="1419225"/>
          <a:ext xmlns:a="http://schemas.openxmlformats.org/drawingml/2006/main" cx="10972800" cy="4133850"/>
        </p:xfrm>
        <a:graphic xmlns:a="http://schemas.openxmlformats.org/drawingml/2006/main">
          <a:graphicData uri="http://schemas.openxmlformats.org/drawingml/2006/table">
            <a:tbl>
              <a:tblPr/>
              <a:tblGrid>
                <a:gridCol w="3714750"/>
                <a:gridCol w="7258050"/>
              </a:tblGrid>
              <a:tr h="590550">
                <a:tc>
                  <a:txBody>
                    <a:bodyPr/>
                    <a:lstStyle/>
                    <a:p>
                      <a:r>
                        <a:rPr sz="1800" b="1">
                          <a:solidFill>
                            <a:srgbClr val="172E43"/>
                          </a:solidFill>
                          <a:latin typeface="Arial"/>
                          <a:ea typeface="Arial"/>
                          <a:cs typeface="Arial"/>
                        </a:rPr>
                        <a:t>Parameter</a:t>
                      </a:r>
                    </a:p>
                  </a:txBody>
                  <a:tcPr marL="133350" marR="114300" marT="95250" marB="95250">
                    <a:solidFill>
                      <a:srgbClr val="E8F0F5"/>
                    </a:solidFill>
                  </a:tcPr>
                </a:tc>
                <a:tc>
                  <a:txBody>
                    <a:bodyPr/>
                    <a:lstStyle/>
                    <a:p>
                      <a:r>
                        <a:rPr sz="1800" b="1">
                          <a:solidFill>
                            <a:srgbClr val="172E43"/>
                          </a:solidFill>
                          <a:latin typeface="Arial"/>
                          <a:ea typeface="Arial"/>
                          <a:cs typeface="Arial"/>
                        </a:rPr>
                        <a:t>Value in omega_Roman_007</a:t>
                      </a:r>
                    </a:p>
                  </a:txBody>
                  <a:tcPr marL="133350" marR="114300" marT="95250" marB="95250">
                    <a:solidFill>
                      <a:srgbClr val="E8F0F5"/>
                    </a:solidFill>
                  </a:tcPr>
                </a:tc>
              </a:tr>
              <a:tr h="590550">
                <a:tc>
                  <a:txBody>
                    <a:bodyPr/>
                    <a:lstStyle/>
                    <a:p>
                      <a:r>
                        <a:rPr sz="1800" b="0">
                          <a:solidFill>
                            <a:srgbClr val="172E43"/>
                          </a:solidFill>
                          <a:latin typeface="Arial"/>
                          <a:ea typeface="Arial"/>
                          <a:cs typeface="Arial"/>
                        </a:rPr>
                        <a:t>Reaction</a:t>
                      </a:r>
                    </a:p>
                  </a:txBody>
                  <a:tcPr marL="133350" marR="114300" marT="95250" marB="95250">
                    <a:solidFill>
                      <a:srgbClr val="FFFFFF"/>
                    </a:solidFill>
                  </a:tcPr>
                </a:tc>
                <a:tc>
                  <a:txBody>
                    <a:bodyPr/>
                    <a:lstStyle/>
                    <a:p>
                      <a:r>
                        <a:rPr sz="1800" b="0">
                          <a:solidFill>
                            <a:srgbClr val="172E43"/>
                          </a:solidFill>
                          <a:latin typeface="Arial"/>
                          <a:ea typeface="Arial"/>
                          <a:cs typeface="Arial"/>
                        </a:rPr>
                        <a:t>H(e, e′p)ω</a:t>
                      </a:r>
                    </a:p>
                  </a:txBody>
                  <a:tcPr marL="133350" marR="114300" marT="95250" marB="95250">
                    <a:solidFill>
                      <a:srgbClr val="FFFFFF"/>
                    </a:solidFill>
                  </a:tcPr>
                </a:tc>
              </a:tr>
              <a:tr h="590550">
                <a:tc>
                  <a:txBody>
                    <a:bodyPr/>
                    <a:lstStyle/>
                    <a:p>
                      <a:r>
                        <a:rPr sz="1800" b="0">
                          <a:solidFill>
                            <a:srgbClr val="172E43"/>
                          </a:solidFill>
                          <a:latin typeface="Arial"/>
                          <a:ea typeface="Arial"/>
                          <a:cs typeface="Arial"/>
                        </a:rPr>
                        <a:t>Beam energy</a:t>
                      </a:r>
                    </a:p>
                  </a:txBody>
                  <a:tcPr marL="133350" marR="114300" marT="95250" marB="95250">
                    <a:solidFill>
                      <a:srgbClr val="FFFFFF"/>
                    </a:solidFill>
                  </a:tcPr>
                </a:tc>
                <a:tc>
                  <a:txBody>
                    <a:bodyPr/>
                    <a:lstStyle/>
                    <a:p>
                      <a:r>
                        <a:rPr sz="1800" b="0">
                          <a:solidFill>
                            <a:srgbClr val="172E43"/>
                          </a:solidFill>
                          <a:latin typeface="Arial"/>
                          <a:ea typeface="Arial"/>
                          <a:cs typeface="Arial"/>
                        </a:rPr>
                        <a:t>10.60 GeV</a:t>
                      </a:r>
                    </a:p>
                  </a:txBody>
                  <a:tcPr marL="133350" marR="114300" marT="95250" marB="95250">
                    <a:solidFill>
                      <a:srgbClr val="FFFFFF"/>
                    </a:solidFill>
                  </a:tcPr>
                </a:tc>
              </a:tr>
              <a:tr h="590550">
                <a:tc>
                  <a:txBody>
                    <a:bodyPr/>
                    <a:lstStyle/>
                    <a:p>
                      <a:r>
                        <a:rPr sz="1800" b="0">
                          <a:solidFill>
                            <a:srgbClr val="172E43"/>
                          </a:solidFill>
                          <a:latin typeface="Arial"/>
                          <a:ea typeface="Arial"/>
                          <a:cs typeface="Arial"/>
                        </a:rPr>
                        <a:t>SHMS electron arm</a:t>
                      </a:r>
                    </a:p>
                  </a:txBody>
                  <a:tcPr marL="133350" marR="114300" marT="95250" marB="95250">
                    <a:solidFill>
                      <a:srgbClr val="FFFFFF"/>
                    </a:solidFill>
                  </a:tcPr>
                </a:tc>
                <a:tc>
                  <a:txBody>
                    <a:bodyPr/>
                    <a:lstStyle/>
                    <a:p>
                      <a:r>
                        <a:rPr sz="1800" b="0">
                          <a:solidFill>
                            <a:srgbClr val="172E43"/>
                          </a:solidFill>
                          <a:latin typeface="Arial"/>
                          <a:ea typeface="Arial"/>
                          <a:cs typeface="Arial"/>
                        </a:rPr>
                        <a:t>6.70 GeV/c at 13°</a:t>
                      </a:r>
                    </a:p>
                  </a:txBody>
                  <a:tcPr marL="133350" marR="114300" marT="95250" marB="95250">
                    <a:solidFill>
                      <a:srgbClr val="FFFFFF"/>
                    </a:solidFill>
                  </a:tcPr>
                </a:tc>
              </a:tr>
              <a:tr h="590550">
                <a:tc>
                  <a:txBody>
                    <a:bodyPr/>
                    <a:lstStyle/>
                    <a:p>
                      <a:r>
                        <a:rPr sz="1800" b="0">
                          <a:solidFill>
                            <a:srgbClr val="172E43"/>
                          </a:solidFill>
                          <a:latin typeface="Arial"/>
                          <a:ea typeface="Arial"/>
                          <a:cs typeface="Arial"/>
                        </a:rPr>
                        <a:t>HMS proton arm</a:t>
                      </a:r>
                    </a:p>
                  </a:txBody>
                  <a:tcPr marL="133350" marR="114300" marT="95250" marB="95250">
                    <a:solidFill>
                      <a:srgbClr val="FFFFFF"/>
                    </a:solidFill>
                  </a:tcPr>
                </a:tc>
                <a:tc>
                  <a:txBody>
                    <a:bodyPr/>
                    <a:lstStyle/>
                    <a:p>
                      <a:r>
                        <a:rPr sz="1800" b="0">
                          <a:solidFill>
                            <a:srgbClr val="172E43"/>
                          </a:solidFill>
                          <a:latin typeface="Arial"/>
                          <a:ea typeface="Arial"/>
                          <a:cs typeface="Arial"/>
                        </a:rPr>
                        <a:t>1.10 GeV/c at 32°</a:t>
                      </a:r>
                    </a:p>
                  </a:txBody>
                  <a:tcPr marL="133350" marR="114300" marT="95250" marB="95250">
                    <a:solidFill>
                      <a:srgbClr val="FFFFFF"/>
                    </a:solidFill>
                  </a:tcPr>
                </a:tc>
              </a:tr>
              <a:tr h="590550">
                <a:tc>
                  <a:txBody>
                    <a:bodyPr/>
                    <a:lstStyle/>
                    <a:p>
                      <a:r>
                        <a:rPr sz="1800" b="0">
                          <a:solidFill>
                            <a:srgbClr val="172E43"/>
                          </a:solidFill>
                          <a:latin typeface="Arial"/>
                          <a:ea typeface="Arial"/>
                          <a:cs typeface="Arial"/>
                        </a:rPr>
                        <a:t>Hydrogen target</a:t>
                      </a:r>
                    </a:p>
                  </a:txBody>
                  <a:tcPr marL="133350" marR="114300" marT="95250" marB="95250">
                    <a:solidFill>
                      <a:srgbClr val="FFFFFF"/>
                    </a:solidFill>
                  </a:tcPr>
                </a:tc>
                <a:tc>
                  <a:txBody>
                    <a:bodyPr/>
                    <a:lstStyle/>
                    <a:p>
                      <a:r>
                        <a:rPr sz="1800" b="0">
                          <a:solidFill>
                            <a:srgbClr val="172E43"/>
                          </a:solidFill>
                          <a:latin typeface="Arial"/>
                          <a:ea typeface="Arial"/>
                          <a:cs typeface="Arial"/>
                        </a:rPr>
                        <a:t>10 cm, areal density 0.7332 g/cm²</a:t>
                      </a:r>
                    </a:p>
                  </a:txBody>
                  <a:tcPr marL="133350" marR="114300" marT="95250" marB="95250">
                    <a:solidFill>
                      <a:srgbClr val="FFFFFF"/>
                    </a:solidFill>
                  </a:tcPr>
                </a:tc>
              </a:tr>
              <a:tr h="590550">
                <a:tc>
                  <a:txBody>
                    <a:bodyPr/>
                    <a:lstStyle/>
                    <a:p>
                      <a:r>
                        <a:rPr sz="1800" b="0">
                          <a:solidFill>
                            <a:srgbClr val="172E43"/>
                          </a:solidFill>
                          <a:latin typeface="Arial"/>
                          <a:ea typeface="Arial"/>
                          <a:cs typeface="Arial"/>
                        </a:rPr>
                        <a:t>Input beam charge</a:t>
                      </a:r>
                    </a:p>
                  </a:txBody>
                  <a:tcPr marL="133350" marR="114300" marT="95250" marB="95250">
                    <a:solidFill>
                      <a:srgbClr val="FFFFFF"/>
                    </a:solidFill>
                  </a:tcPr>
                </a:tc>
                <a:tc>
                  <a:txBody>
                    <a:bodyPr/>
                    <a:lstStyle/>
                    <a:p>
                      <a:r>
                        <a:rPr sz="1800" b="0">
                          <a:solidFill>
                            <a:srgbClr val="172E43"/>
                          </a:solidFill>
                          <a:latin typeface="Arial"/>
                          <a:ea typeface="Arial"/>
                          <a:cs typeface="Arial"/>
                        </a:rPr>
                        <a:t>1.00 mC</a:t>
                      </a:r>
                    </a:p>
                  </a:txBody>
                  <a:tcPr marL="133350" marR="114300" marT="95250" marB="9525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11B6AE9-2F21-4B97-A529-D72B760B0057}"/>
              </a:ext>
            </a:extLst>
          </p:cNvPr>
          <p:cNvSpPr>
            <a:spLocks xmlns:a="http://schemas.openxmlformats.org/drawingml/2006/main" noGrp="1"/>
          </p:cNvSpPr>
          <p:nvPr/>
        </p:nvSpPr>
        <p:spPr>
          <a:xfrm xmlns:a="http://schemas.openxmlformats.org/drawingml/2006/main">
            <a:off x="609600" y="57912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945419"/>
                </a:solidFill>
                <a:latin typeface="Arial"/>
                <a:ea typeface="Arial"/>
                <a:cs typeface="Arial"/>
              </a:defRPr>
            </a:pPr>
            <a:r>
              <a:rPr sz="1875" b="0">
                <a:solidFill>
                  <a:srgbClr val="945419"/>
                </a:solidFill>
                <a:latin typeface="Arial"/>
                <a:ea typeface="Arial"/>
                <a:cs typeface="Arial"/>
              </a:rPr>
              <a:t>The input labels the apparatus settings as provisional.</a:t>
            </a:r>
          </a:p>
        </p:txBody>
      </p:sp>
    </p:spTree>
    <p:extLst>
      <p:ext uri="{BB962C8B-B14F-4D97-AF65-F5344CB8AC3E}">
        <p14:creationId xmlns:p14="http://schemas.microsoft.com/office/powerpoint/2010/main" val="184843323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3B40A7C-2A6F-45ED-AA27-87816AFD6A11}"/>
              </a:ext>
            </a:extLst>
          </p:cNvPr>
          <p:cNvSpPr>
            <a:spLocks xmlns:a="http://schemas.openxmlformats.org/drawingml/2006/main" noGrp="1"/>
          </p:cNvSpPr>
          <p:nvPr/>
        </p:nvSpPr>
        <p:spPr>
          <a:xfrm xmlns:a="http://schemas.openxmlformats.org/drawingml/2006/main">
            <a:off x="609600" y="3810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E43"/>
                </a:solidFill>
                <a:latin typeface="Arial"/>
                <a:ea typeface="Arial"/>
                <a:cs typeface="Arial"/>
              </a:defRPr>
            </a:pPr>
            <a:r>
              <a:rPr sz="3225" b="1">
                <a:solidFill>
                  <a:srgbClr val="172E43"/>
                </a:solidFill>
                <a:latin typeface="Arial"/>
                <a:ea typeface="Arial"/>
                <a:cs typeface="Arial"/>
              </a:rPr>
              <a:t>Event selection</a:t>
            </a:r>
          </a:p>
        </p:txBody>
      </p:sp>
      <p:sp>
        <p:nvSpPr>
          <p:cNvPr id="2" name="">
            <a:extLst xmlns:a="http://schemas.openxmlformats.org/drawingml/2006/main">
              <a:ext uri="{FF2B5EF4-FFF2-40B4-BE49-F238E27FC236}">
                <a16:creationId xmlns:a16="http://schemas.microsoft.com/office/drawing/2014/main" id="{BAC1E36F-EDBB-471F-B8C8-FEA83FF0C0D8}"/>
              </a:ext>
            </a:extLst>
          </p:cNvPr>
          <p:cNvSpPr>
            <a:spLocks xmlns:a="http://schemas.openxmlformats.org/drawingml/2006/main" noGrp="1"/>
          </p:cNvSpPr>
          <p:nvPr/>
        </p:nvSpPr>
        <p:spPr>
          <a:xfrm xmlns:a="http://schemas.openxmlformats.org/drawingml/2006/main">
            <a:off x="1108710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271"/>
                </a:solidFill>
                <a:latin typeface="Arial"/>
                <a:ea typeface="Arial"/>
                <a:cs typeface="Arial"/>
              </a:defRPr>
            </a:pPr>
            <a:r>
              <a:rPr sz="1275" b="0">
                <a:solidFill>
                  <a:srgbClr val="506271"/>
                </a:solidFill>
                <a:latin typeface="Arial"/>
                <a:ea typeface="Arial"/>
                <a:cs typeface="Arial"/>
              </a:rPr>
              <a:t>3</a:t>
            </a:r>
          </a:p>
        </p:txBody>
      </p:sp>
      <p:sp>
        <p:nvSpPr>
          <p:cNvPr id="3" name="">
            <a:extLst xmlns:a="http://schemas.openxmlformats.org/drawingml/2006/main">
              <a:ext uri="{FF2B5EF4-FFF2-40B4-BE49-F238E27FC236}">
                <a16:creationId xmlns:a16="http://schemas.microsoft.com/office/drawing/2014/main" id="{0A667D55-8776-46FB-A4FF-3FED5A9B5BAA}"/>
              </a:ext>
            </a:extLst>
          </p:cNvPr>
          <p:cNvSpPr>
            <a:spLocks xmlns:a="http://schemas.openxmlformats.org/drawingml/2006/main" noGrp="1"/>
          </p:cNvSpPr>
          <p:nvPr/>
        </p:nvSpPr>
        <p:spPr>
          <a:xfrm xmlns:a="http://schemas.openxmlformats.org/drawingml/2006/main">
            <a:off x="609600" y="13811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5C95"/>
                </a:solidFill>
                <a:latin typeface="Arial"/>
                <a:ea typeface="Arial"/>
                <a:cs typeface="Arial"/>
              </a:defRPr>
            </a:pPr>
            <a:r>
              <a:rPr sz="2175" b="1">
                <a:solidFill>
                  <a:srgbClr val="155C95"/>
                </a:solidFill>
                <a:latin typeface="Arial"/>
                <a:ea typeface="Arial"/>
                <a:cs typeface="Arial"/>
              </a:rPr>
              <a:t>136,898 generation attempts     1,000 stored events     595 pass cuts</a:t>
            </a:r>
          </a:p>
        </p:txBody>
      </p:sp>
      <p:graphicFrame>
        <p:nvGraphicFramePr>
          <p:cNvPr id="9" name=""/>
          <p:cNvGraphicFramePr/>
          <p:nvPr/>
        </p:nvGraphicFramePr>
        <p:xfrm>
          <a:off xmlns:a="http://schemas.openxmlformats.org/drawingml/2006/main" x="609600" y="2390775"/>
          <a:ext xmlns:a="http://schemas.openxmlformats.org/drawingml/2006/main" cx="10972800" cy="2514600"/>
        </p:xfrm>
        <a:graphic xmlns:a="http://schemas.openxmlformats.org/drawingml/2006/main">
          <a:graphicData uri="http://schemas.openxmlformats.org/drawingml/2006/table">
            <a:tbl>
              <a:tblPr/>
              <a:tblGrid>
                <a:gridCol w="2857500"/>
                <a:gridCol w="4057650"/>
                <a:gridCol w="4057650"/>
              </a:tblGrid>
              <a:tr h="628650">
                <a:tc>
                  <a:txBody>
                    <a:bodyPr/>
                    <a:lstStyle/>
                    <a:p>
                      <a:r>
                        <a:rPr sz="1800" b="1">
                          <a:solidFill>
                            <a:srgbClr val="172E43"/>
                          </a:solidFill>
                          <a:latin typeface="Arial"/>
                          <a:ea typeface="Arial"/>
                          <a:cs typeface="Arial"/>
                        </a:rPr>
                        <a:t>Cut variable</a:t>
                      </a:r>
                    </a:p>
                  </a:txBody>
                  <a:tcPr marL="133350" marR="114300" marT="95250" marB="95250">
                    <a:solidFill>
                      <a:srgbClr val="E8F0F5"/>
                    </a:solidFill>
                  </a:tcPr>
                </a:tc>
                <a:tc>
                  <a:txBody>
                    <a:bodyPr/>
                    <a:lstStyle/>
                    <a:p>
                      <a:r>
                        <a:rPr sz="1800" b="1">
                          <a:solidFill>
                            <a:srgbClr val="172E43"/>
                          </a:solidFill>
                          <a:latin typeface="Arial"/>
                          <a:ea typeface="Arial"/>
                          <a:cs typeface="Arial"/>
                        </a:rPr>
                        <a:t>HMS (hs)</a:t>
                      </a:r>
                    </a:p>
                  </a:txBody>
                  <a:tcPr marL="133350" marR="114300" marT="95250" marB="95250">
                    <a:solidFill>
                      <a:srgbClr val="E8F0F5"/>
                    </a:solidFill>
                  </a:tcPr>
                </a:tc>
                <a:tc>
                  <a:txBody>
                    <a:bodyPr/>
                    <a:lstStyle/>
                    <a:p>
                      <a:r>
                        <a:rPr sz="1800" b="1">
                          <a:solidFill>
                            <a:srgbClr val="172E43"/>
                          </a:solidFill>
                          <a:latin typeface="Arial"/>
                          <a:ea typeface="Arial"/>
                          <a:cs typeface="Arial"/>
                        </a:rPr>
                        <a:t>SHMS (ss)</a:t>
                      </a:r>
                    </a:p>
                  </a:txBody>
                  <a:tcPr marL="133350" marR="114300" marT="95250" marB="95250">
                    <a:solidFill>
                      <a:srgbClr val="E8F0F5"/>
                    </a:solidFill>
                  </a:tcPr>
                </a:tc>
              </a:tr>
              <a:tr h="628650">
                <a:tc>
                  <a:txBody>
                    <a:bodyPr/>
                    <a:lstStyle/>
                    <a:p>
                      <a:r>
                        <a:rPr sz="1800" b="0">
                          <a:solidFill>
                            <a:srgbClr val="172E43"/>
                          </a:solidFill>
                          <a:latin typeface="Arial"/>
                          <a:ea typeface="Arial"/>
                          <a:cs typeface="Arial"/>
                        </a:rPr>
                        <a:t>δ [%]</a:t>
                      </a:r>
                    </a:p>
                  </a:txBody>
                  <a:tcPr marL="133350" marR="114300" marT="95250" marB="95250">
                    <a:solidFill>
                      <a:srgbClr val="FFFFFF"/>
                    </a:solidFill>
                  </a:tcPr>
                </a:tc>
                <a:tc>
                  <a:txBody>
                    <a:bodyPr/>
                    <a:lstStyle/>
                    <a:p>
                      <a:r>
                        <a:rPr sz="1800" b="0">
                          <a:solidFill>
                            <a:srgbClr val="172E43"/>
                          </a:solidFill>
                          <a:latin typeface="Arial"/>
                          <a:ea typeface="Arial"/>
                          <a:cs typeface="Arial"/>
                        </a:rPr>
                        <a:t>−8 &lt; hsdelta &lt; 8</a:t>
                      </a:r>
                    </a:p>
                  </a:txBody>
                  <a:tcPr marL="133350" marR="114300" marT="95250" marB="95250">
                    <a:solidFill>
                      <a:srgbClr val="FFFFFF"/>
                    </a:solidFill>
                  </a:tcPr>
                </a:tc>
                <a:tc>
                  <a:txBody>
                    <a:bodyPr/>
                    <a:lstStyle/>
                    <a:p>
                      <a:r>
                        <a:rPr sz="1800" b="0">
                          <a:solidFill>
                            <a:srgbClr val="172E43"/>
                          </a:solidFill>
                          <a:latin typeface="Arial"/>
                          <a:ea typeface="Arial"/>
                          <a:cs typeface="Arial"/>
                        </a:rPr>
                        <a:t>−10 &lt; ssdelta &lt; 22</a:t>
                      </a:r>
                    </a:p>
                  </a:txBody>
                  <a:tcPr marL="133350" marR="114300" marT="95250" marB="95250">
                    <a:solidFill>
                      <a:srgbClr val="FFFFFF"/>
                    </a:solidFill>
                  </a:tcPr>
                </a:tc>
              </a:tr>
              <a:tr h="628650">
                <a:tc>
                  <a:txBody>
                    <a:bodyPr/>
                    <a:lstStyle/>
                    <a:p>
                      <a:r>
                        <a:rPr sz="1800" b="0">
                          <a:solidFill>
                            <a:srgbClr val="172E43"/>
                          </a:solidFill>
                          <a:latin typeface="Arial"/>
                          <a:ea typeface="Arial"/>
                          <a:cs typeface="Arial"/>
                        </a:rPr>
                        <a:t>Target x slope</a:t>
                      </a:r>
                    </a:p>
                  </a:txBody>
                  <a:tcPr marL="133350" marR="114300" marT="95250" marB="95250">
                    <a:solidFill>
                      <a:srgbClr val="FFFFFF"/>
                    </a:solidFill>
                  </a:tcPr>
                </a:tc>
                <a:tc>
                  <a:txBody>
                    <a:bodyPr/>
                    <a:lstStyle/>
                    <a:p>
                      <a:r>
                        <a:rPr sz="1800" b="0">
                          <a:solidFill>
                            <a:srgbClr val="172E43"/>
                          </a:solidFill>
                          <a:latin typeface="Arial"/>
                          <a:ea typeface="Arial"/>
                          <a:cs typeface="Arial"/>
                        </a:rPr>
                        <a:t>|hsxptar| &lt; 0.080</a:t>
                      </a:r>
                    </a:p>
                  </a:txBody>
                  <a:tcPr marL="133350" marR="114300" marT="95250" marB="95250">
                    <a:solidFill>
                      <a:srgbClr val="FFFFFF"/>
                    </a:solidFill>
                  </a:tcPr>
                </a:tc>
                <a:tc>
                  <a:txBody>
                    <a:bodyPr/>
                    <a:lstStyle/>
                    <a:p>
                      <a:r>
                        <a:rPr sz="1800" b="0">
                          <a:solidFill>
                            <a:srgbClr val="172E43"/>
                          </a:solidFill>
                          <a:latin typeface="Arial"/>
                          <a:ea typeface="Arial"/>
                          <a:cs typeface="Arial"/>
                        </a:rPr>
                        <a:t>|ssxptar| &lt; 0.040</a:t>
                      </a:r>
                    </a:p>
                  </a:txBody>
                  <a:tcPr marL="133350" marR="114300" marT="95250" marB="95250">
                    <a:solidFill>
                      <a:srgbClr val="FFFFFF"/>
                    </a:solidFill>
                  </a:tcPr>
                </a:tc>
              </a:tr>
              <a:tr h="628650">
                <a:tc>
                  <a:txBody>
                    <a:bodyPr/>
                    <a:lstStyle/>
                    <a:p>
                      <a:r>
                        <a:rPr sz="1800" b="0">
                          <a:solidFill>
                            <a:srgbClr val="172E43"/>
                          </a:solidFill>
                          <a:latin typeface="Arial"/>
                          <a:ea typeface="Arial"/>
                          <a:cs typeface="Arial"/>
                        </a:rPr>
                        <a:t>Target y slope</a:t>
                      </a:r>
                    </a:p>
                  </a:txBody>
                  <a:tcPr marL="133350" marR="114300" marT="95250" marB="95250">
                    <a:solidFill>
                      <a:srgbClr val="FFFFFF"/>
                    </a:solidFill>
                  </a:tcPr>
                </a:tc>
                <a:tc>
                  <a:txBody>
                    <a:bodyPr/>
                    <a:lstStyle/>
                    <a:p>
                      <a:r>
                        <a:rPr sz="1800" b="0">
                          <a:solidFill>
                            <a:srgbClr val="172E43"/>
                          </a:solidFill>
                          <a:latin typeface="Arial"/>
                          <a:ea typeface="Arial"/>
                          <a:cs typeface="Arial"/>
                        </a:rPr>
                        <a:t>|hsyptar| &lt; 0.035</a:t>
                      </a:r>
                    </a:p>
                  </a:txBody>
                  <a:tcPr marL="133350" marR="114300" marT="95250" marB="95250">
                    <a:solidFill>
                      <a:srgbClr val="FFFFFF"/>
                    </a:solidFill>
                  </a:tcPr>
                </a:tc>
                <a:tc>
                  <a:txBody>
                    <a:bodyPr/>
                    <a:lstStyle/>
                    <a:p>
                      <a:r>
                        <a:rPr sz="1800" b="0">
                          <a:solidFill>
                            <a:srgbClr val="172E43"/>
                          </a:solidFill>
                          <a:latin typeface="Arial"/>
                          <a:ea typeface="Arial"/>
                          <a:cs typeface="Arial"/>
                        </a:rPr>
                        <a:t>|ssyptar| &lt; 0.024</a:t>
                      </a:r>
                    </a:p>
                  </a:txBody>
                  <a:tcPr marL="133350" marR="114300" marT="95250" marB="9525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C6967AA-4C7E-47B9-A26D-F03B4CECDEC3}"/>
              </a:ext>
            </a:extLst>
          </p:cNvPr>
          <p:cNvSpPr>
            <a:spLocks xmlns:a="http://schemas.openxmlformats.org/drawingml/2006/main" noGrp="1"/>
          </p:cNvSpPr>
          <p:nvPr/>
        </p:nvSpPr>
        <p:spPr>
          <a:xfrm xmlns:a="http://schemas.openxmlformats.org/drawingml/2006/main">
            <a:off x="609600" y="52673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E43"/>
                </a:solidFill>
                <a:latin typeface="Arial"/>
                <a:ea typeface="Arial"/>
                <a:cs typeface="Arial"/>
              </a:defRPr>
            </a:pPr>
            <a:r>
              <a:rPr sz="2025" b="0">
                <a:solidFill>
                  <a:srgbClr val="172E43"/>
                </a:solidFill>
                <a:latin typeface="Arial"/>
                <a:ea typeface="Arial"/>
                <a:cs typeface="Arial"/>
              </a:rPr>
              <a:t>No additional missing-mass window or W, Q², |t| selection.</a:t>
            </a:r>
          </a:p>
        </p:txBody>
      </p:sp>
    </p:spTree>
    <p:extLst>
      <p:ext uri="{BB962C8B-B14F-4D97-AF65-F5344CB8AC3E}">
        <p14:creationId xmlns:p14="http://schemas.microsoft.com/office/powerpoint/2010/main" val="90916332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AB95FC3-C885-498D-BFF9-8AF9F62A304C}"/>
              </a:ext>
            </a:extLst>
          </p:cNvPr>
          <p:cNvSpPr>
            <a:spLocks xmlns:a="http://schemas.openxmlformats.org/drawingml/2006/main" noGrp="1"/>
          </p:cNvSpPr>
          <p:nvPr/>
        </p:nvSpPr>
        <p:spPr>
          <a:xfrm xmlns:a="http://schemas.openxmlformats.org/drawingml/2006/main">
            <a:off x="609600" y="3810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E43"/>
                </a:solidFill>
                <a:latin typeface="Arial"/>
                <a:ea typeface="Arial"/>
                <a:cs typeface="Arial"/>
              </a:defRPr>
            </a:pPr>
            <a:r>
              <a:rPr sz="3225" b="1">
                <a:solidFill>
                  <a:srgbClr val="172E43"/>
                </a:solidFill>
                <a:latin typeface="Arial"/>
                <a:ea typeface="Arial"/>
                <a:cs typeface="Arial"/>
              </a:rPr>
              <a:t>Weights and absolute normalization</a:t>
            </a:r>
          </a:p>
        </p:txBody>
      </p:sp>
      <p:sp>
        <p:nvSpPr>
          <p:cNvPr id="2" name="">
            <a:extLst xmlns:a="http://schemas.openxmlformats.org/drawingml/2006/main">
              <a:ext uri="{FF2B5EF4-FFF2-40B4-BE49-F238E27FC236}">
                <a16:creationId xmlns:a16="http://schemas.microsoft.com/office/drawing/2014/main" id="{4729F376-0739-46E2-838E-D77AF7AC5CE8}"/>
              </a:ext>
            </a:extLst>
          </p:cNvPr>
          <p:cNvSpPr>
            <a:spLocks xmlns:a="http://schemas.openxmlformats.org/drawingml/2006/main" noGrp="1"/>
          </p:cNvSpPr>
          <p:nvPr/>
        </p:nvSpPr>
        <p:spPr>
          <a:xfrm xmlns:a="http://schemas.openxmlformats.org/drawingml/2006/main">
            <a:off x="1108710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271"/>
                </a:solidFill>
                <a:latin typeface="Arial"/>
                <a:ea typeface="Arial"/>
                <a:cs typeface="Arial"/>
              </a:defRPr>
            </a:pPr>
            <a:r>
              <a:rPr sz="1275" b="0">
                <a:solidFill>
                  <a:srgbClr val="506271"/>
                </a:solidFill>
                <a:latin typeface="Arial"/>
                <a:ea typeface="Arial"/>
                <a:cs typeface="Arial"/>
              </a:rPr>
              <a:t>4</a:t>
            </a:r>
          </a:p>
        </p:txBody>
      </p:sp>
      <p:sp>
        <p:nvSpPr>
          <p:cNvPr id="3" name="">
            <a:extLst xmlns:a="http://schemas.openxmlformats.org/drawingml/2006/main">
              <a:ext uri="{FF2B5EF4-FFF2-40B4-BE49-F238E27FC236}">
                <a16:creationId xmlns:a16="http://schemas.microsoft.com/office/drawing/2014/main" id="{96DF05BD-3F4B-403A-8A2C-B16DEC06E01C}"/>
              </a:ext>
            </a:extLst>
          </p:cNvPr>
          <p:cNvSpPr>
            <a:spLocks xmlns:a="http://schemas.openxmlformats.org/drawingml/2006/main" noGrp="1"/>
          </p:cNvSpPr>
          <p:nvPr/>
        </p:nvSpPr>
        <p:spPr>
          <a:xfrm xmlns:a="http://schemas.openxmlformats.org/drawingml/2006/main">
            <a:off x="609600" y="14097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E43"/>
                </a:solidFill>
                <a:latin typeface="Arial"/>
                <a:ea typeface="Arial"/>
                <a:cs typeface="Arial"/>
              </a:defRPr>
            </a:pPr>
            <a:r>
              <a:rPr sz="2175" b="0">
                <a:solidFill>
                  <a:srgbClr val="172E43"/>
                </a:solidFill>
                <a:latin typeface="Arial"/>
                <a:ea typeface="Arial"/>
                <a:cs typeface="Arial"/>
              </a:rPr>
              <a:t>Each selected event contributes its original ROOT Weight.</a:t>
            </a:r>
          </a:p>
        </p:txBody>
      </p:sp>
      <p:sp>
        <p:nvSpPr>
          <p:cNvPr id="4" name="">
            <a:extLst xmlns:a="http://schemas.openxmlformats.org/drawingml/2006/main">
              <a:ext uri="{FF2B5EF4-FFF2-40B4-BE49-F238E27FC236}">
                <a16:creationId xmlns:a16="http://schemas.microsoft.com/office/drawing/2014/main" id="{9D9936E4-3B37-4D07-97CF-A06F15543590}"/>
              </a:ext>
            </a:extLst>
          </p:cNvPr>
          <p:cNvSpPr>
            <a:spLocks xmlns:a="http://schemas.openxmlformats.org/drawingml/2006/main" noGrp="1"/>
          </p:cNvSpPr>
          <p:nvPr/>
        </p:nvSpPr>
        <p:spPr>
          <a:xfrm xmlns:a="http://schemas.openxmlformats.org/drawingml/2006/main">
            <a:off x="609600" y="235267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55C95"/>
                </a:solidFill>
                <a:latin typeface="Arial"/>
                <a:ea typeface="Arial"/>
                <a:cs typeface="Arial"/>
              </a:defRPr>
            </a:pPr>
            <a:r>
              <a:rPr sz="2400" b="1">
                <a:solidFill>
                  <a:srgbClr val="155C95"/>
                </a:solidFill>
                <a:latin typeface="Arial"/>
                <a:ea typeface="Arial"/>
                <a:cs typeface="Arial"/>
              </a:rPr>
              <a:t>Nω = Σ Weight × (normfac / Nsuccess) × (Qrequested / Qinput)</a:t>
            </a:r>
          </a:p>
        </p:txBody>
      </p:sp>
      <p:graphicFrame>
        <p:nvGraphicFramePr>
          <p:cNvPr id="10" name=""/>
          <p:cNvGraphicFramePr/>
          <p:nvPr/>
        </p:nvGraphicFramePr>
        <p:xfrm>
          <a:off xmlns:a="http://schemas.openxmlformats.org/drawingml/2006/main" x="609600" y="3362325"/>
          <a:ext xmlns:a="http://schemas.openxmlformats.org/drawingml/2006/main" cx="10972800" cy="2619375"/>
        </p:xfrm>
        <a:graphic xmlns:a="http://schemas.openxmlformats.org/drawingml/2006/main">
          <a:graphicData uri="http://schemas.openxmlformats.org/drawingml/2006/table">
            <a:tbl>
              <a:tblPr/>
              <a:tblGrid>
                <a:gridCol w="6238875"/>
                <a:gridCol w="4733925"/>
              </a:tblGrid>
              <a:tr h="523875">
                <a:tc>
                  <a:txBody>
                    <a:bodyPr/>
                    <a:lstStyle/>
                    <a:p>
                      <a:r>
                        <a:rPr sz="1800" b="1">
                          <a:solidFill>
                            <a:srgbClr val="172E43"/>
                          </a:solidFill>
                          <a:latin typeface="Arial"/>
                          <a:ea typeface="Arial"/>
                          <a:cs typeface="Arial"/>
                        </a:rPr>
                        <a:t>Quantity</a:t>
                      </a:r>
                    </a:p>
                  </a:txBody>
                  <a:tcPr marL="133350" marR="114300" marT="95250" marB="95250">
                    <a:solidFill>
                      <a:srgbClr val="E8F0F5"/>
                    </a:solidFill>
                  </a:tcPr>
                </a:tc>
                <a:tc>
                  <a:txBody>
                    <a:bodyPr/>
                    <a:lstStyle/>
                    <a:p>
                      <a:r>
                        <a:rPr sz="1800" b="1">
                          <a:solidFill>
                            <a:srgbClr val="172E43"/>
                          </a:solidFill>
                          <a:latin typeface="Arial"/>
                          <a:ea typeface="Arial"/>
                          <a:cs typeface="Arial"/>
                        </a:rPr>
                        <a:t>Value used</a:t>
                      </a:r>
                    </a:p>
                  </a:txBody>
                  <a:tcPr marL="133350" marR="114300" marT="95250" marB="95250">
                    <a:solidFill>
                      <a:srgbClr val="E8F0F5"/>
                    </a:solidFill>
                  </a:tcPr>
                </a:tc>
              </a:tr>
              <a:tr h="523875">
                <a:tc>
                  <a:txBody>
                    <a:bodyPr/>
                    <a:lstStyle/>
                    <a:p>
                      <a:r>
                        <a:rPr sz="1800" b="0">
                          <a:solidFill>
                            <a:srgbClr val="172E43"/>
                          </a:solidFill>
                          <a:latin typeface="Arial"/>
                          <a:ea typeface="Arial"/>
                          <a:cs typeface="Arial"/>
                        </a:rPr>
                        <a:t>Σ Weight after our cuts</a:t>
                      </a:r>
                    </a:p>
                  </a:txBody>
                  <a:tcPr marL="133350" marR="114300" marT="95250" marB="95250">
                    <a:solidFill>
                      <a:srgbClr val="FFFFFF"/>
                    </a:solidFill>
                  </a:tcPr>
                </a:tc>
                <a:tc>
                  <a:txBody>
                    <a:bodyPr/>
                    <a:lstStyle/>
                    <a:p>
                      <a:r>
                        <a:rPr sz="1800" b="0">
                          <a:solidFill>
                            <a:srgbClr val="172E43"/>
                          </a:solidFill>
                          <a:latin typeface="Arial"/>
                          <a:ea typeface="Arial"/>
                          <a:cs typeface="Arial"/>
                        </a:rPr>
                        <a:t>5.1281449263 × 10⁻⁵</a:t>
                      </a:r>
                    </a:p>
                  </a:txBody>
                  <a:tcPr marL="133350" marR="114300" marT="95250" marB="95250">
                    <a:solidFill>
                      <a:srgbClr val="FFFFFF"/>
                    </a:solidFill>
                  </a:tcPr>
                </a:tc>
              </a:tr>
              <a:tr h="523875">
                <a:tc>
                  <a:txBody>
                    <a:bodyPr/>
                    <a:lstStyle/>
                    <a:p>
                      <a:r>
                        <a:rPr sz="1800" b="0">
                          <a:solidFill>
                            <a:srgbClr val="172E43"/>
                          </a:solidFill>
                          <a:latin typeface="Arial"/>
                          <a:ea typeface="Arial"/>
                          <a:cs typeface="Arial"/>
                        </a:rPr>
                        <a:t>normfac from the SIMC .hist file</a:t>
                      </a:r>
                    </a:p>
                  </a:txBody>
                  <a:tcPr marL="133350" marR="114300" marT="95250" marB="95250">
                    <a:solidFill>
                      <a:srgbClr val="FFFFFF"/>
                    </a:solidFill>
                  </a:tcPr>
                </a:tc>
                <a:tc>
                  <a:txBody>
                    <a:bodyPr/>
                    <a:lstStyle/>
                    <a:p>
                      <a:r>
                        <a:rPr sz="1800" b="0">
                          <a:solidFill>
                            <a:srgbClr val="172E43"/>
                          </a:solidFill>
                          <a:latin typeface="Arial"/>
                          <a:ea typeface="Arial"/>
                          <a:cs typeface="Arial"/>
                        </a:rPr>
                        <a:t>7,860,620</a:t>
                      </a:r>
                    </a:p>
                  </a:txBody>
                  <a:tcPr marL="133350" marR="114300" marT="95250" marB="95250">
                    <a:solidFill>
                      <a:srgbClr val="FFFFFF"/>
                    </a:solidFill>
                  </a:tcPr>
                </a:tc>
              </a:tr>
              <a:tr h="523875">
                <a:tc>
                  <a:txBody>
                    <a:bodyPr/>
                    <a:lstStyle/>
                    <a:p>
                      <a:r>
                        <a:rPr sz="1800" b="0">
                          <a:solidFill>
                            <a:srgbClr val="172E43"/>
                          </a:solidFill>
                          <a:latin typeface="Arial"/>
                          <a:ea typeface="Arial"/>
                          <a:cs typeface="Arial"/>
                        </a:rPr>
                        <a:t>Nsuccess for normalization</a:t>
                      </a:r>
                    </a:p>
                  </a:txBody>
                  <a:tcPr marL="133350" marR="114300" marT="95250" marB="95250">
                    <a:solidFill>
                      <a:srgbClr val="FFFFFF"/>
                    </a:solidFill>
                  </a:tcPr>
                </a:tc>
                <a:tc>
                  <a:txBody>
                    <a:bodyPr/>
                    <a:lstStyle/>
                    <a:p>
                      <a:r>
                        <a:rPr sz="1800" b="0">
                          <a:solidFill>
                            <a:srgbClr val="172E43"/>
                          </a:solidFill>
                          <a:latin typeface="Arial"/>
                          <a:ea typeface="Arial"/>
                          <a:cs typeface="Arial"/>
                        </a:rPr>
                        <a:t>1,000</a:t>
                      </a:r>
                    </a:p>
                  </a:txBody>
                  <a:tcPr marL="133350" marR="114300" marT="95250" marB="95250">
                    <a:solidFill>
                      <a:srgbClr val="FFFFFF"/>
                    </a:solidFill>
                  </a:tcPr>
                </a:tc>
              </a:tr>
              <a:tr h="523875">
                <a:tc>
                  <a:txBody>
                    <a:bodyPr/>
                    <a:lstStyle/>
                    <a:p>
                      <a:r>
                        <a:rPr sz="1800" b="0">
                          <a:solidFill>
                            <a:srgbClr val="172E43"/>
                          </a:solidFill>
                          <a:latin typeface="Arial"/>
                          <a:ea typeface="Arial"/>
                          <a:cs typeface="Arial"/>
                        </a:rPr>
                        <a:t>Qinput</a:t>
                      </a:r>
                    </a:p>
                  </a:txBody>
                  <a:tcPr marL="133350" marR="114300" marT="95250" marB="95250">
                    <a:solidFill>
                      <a:srgbClr val="FFFFFF"/>
                    </a:solidFill>
                  </a:tcPr>
                </a:tc>
                <a:tc>
                  <a:txBody>
                    <a:bodyPr/>
                    <a:lstStyle/>
                    <a:p>
                      <a:r>
                        <a:rPr sz="1800" b="0">
                          <a:solidFill>
                            <a:srgbClr val="172E43"/>
                          </a:solidFill>
                          <a:latin typeface="Arial"/>
                          <a:ea typeface="Arial"/>
                          <a:cs typeface="Arial"/>
                        </a:rPr>
                        <a:t>1 mC</a:t>
                      </a:r>
                    </a:p>
                  </a:txBody>
                  <a:tcPr marL="133350" marR="114300" marT="95250" marB="95250">
                    <a:solidFill>
                      <a:srgbClr val="FFFFFF"/>
                    </a:solidFill>
                  </a:tcPr>
                </a:tc>
              </a:tr>
            </a:tbl>
          </a:graphicData>
        </a:graphic>
      </p:graphicFrame>
    </p:spTree>
    <p:extLst>
      <p:ext uri="{BB962C8B-B14F-4D97-AF65-F5344CB8AC3E}">
        <p14:creationId xmlns:p14="http://schemas.microsoft.com/office/powerpoint/2010/main" val="126869891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72B2A66-C3D3-4C24-82F3-500CBAE51F1E}"/>
              </a:ext>
            </a:extLst>
          </p:cNvPr>
          <p:cNvSpPr>
            <a:spLocks xmlns:a="http://schemas.openxmlformats.org/drawingml/2006/main" noGrp="1"/>
          </p:cNvSpPr>
          <p:nvPr/>
        </p:nvSpPr>
        <p:spPr>
          <a:xfrm xmlns:a="http://schemas.openxmlformats.org/drawingml/2006/main">
            <a:off x="609600" y="3810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E43"/>
                </a:solidFill>
                <a:latin typeface="Arial"/>
                <a:ea typeface="Arial"/>
                <a:cs typeface="Arial"/>
              </a:defRPr>
            </a:pPr>
            <a:r>
              <a:rPr sz="3225" b="1">
                <a:solidFill>
                  <a:srgbClr val="172E43"/>
                </a:solidFill>
                <a:latin typeface="Arial"/>
                <a:ea typeface="Arial"/>
                <a:cs typeface="Arial"/>
              </a:rPr>
              <a:t>The calculation of 102 events</a:t>
            </a:r>
          </a:p>
        </p:txBody>
      </p:sp>
      <p:sp>
        <p:nvSpPr>
          <p:cNvPr id="2" name="">
            <a:extLst xmlns:a="http://schemas.openxmlformats.org/drawingml/2006/main">
              <a:ext uri="{FF2B5EF4-FFF2-40B4-BE49-F238E27FC236}">
                <a16:creationId xmlns:a16="http://schemas.microsoft.com/office/drawing/2014/main" id="{2FD5ED82-B66E-4E53-8AA9-ECCC8EFDD250}"/>
              </a:ext>
            </a:extLst>
          </p:cNvPr>
          <p:cNvSpPr>
            <a:spLocks xmlns:a="http://schemas.openxmlformats.org/drawingml/2006/main" noGrp="1"/>
          </p:cNvSpPr>
          <p:nvPr/>
        </p:nvSpPr>
        <p:spPr>
          <a:xfrm xmlns:a="http://schemas.openxmlformats.org/drawingml/2006/main">
            <a:off x="1108710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271"/>
                </a:solidFill>
                <a:latin typeface="Arial"/>
                <a:ea typeface="Arial"/>
                <a:cs typeface="Arial"/>
              </a:defRPr>
            </a:pPr>
            <a:r>
              <a:rPr sz="1275" b="0">
                <a:solidFill>
                  <a:srgbClr val="506271"/>
                </a:solidFill>
                <a:latin typeface="Arial"/>
                <a:ea typeface="Arial"/>
                <a:cs typeface="Arial"/>
              </a:rPr>
              <a:t>5</a:t>
            </a:r>
          </a:p>
        </p:txBody>
      </p:sp>
      <p:sp>
        <p:nvSpPr>
          <p:cNvPr id="3" name="">
            <a:extLst xmlns:a="http://schemas.openxmlformats.org/drawingml/2006/main">
              <a:ext uri="{FF2B5EF4-FFF2-40B4-BE49-F238E27FC236}">
                <a16:creationId xmlns:a16="http://schemas.microsoft.com/office/drawing/2014/main" id="{E069AC33-D05B-438A-A077-BED650C14704}"/>
              </a:ext>
            </a:extLst>
          </p:cNvPr>
          <p:cNvSpPr>
            <a:spLocks xmlns:a="http://schemas.openxmlformats.org/drawingml/2006/main" noGrp="1"/>
          </p:cNvSpPr>
          <p:nvPr/>
        </p:nvSpPr>
        <p:spPr>
          <a:xfrm xmlns:a="http://schemas.openxmlformats.org/drawingml/2006/main">
            <a:off x="609600" y="14382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506271"/>
                </a:solidFill>
                <a:latin typeface="Arial"/>
                <a:ea typeface="Arial"/>
                <a:cs typeface="Arial"/>
              </a:defRPr>
            </a:pPr>
            <a:r>
              <a:rPr sz="2100" b="1">
                <a:solidFill>
                  <a:srgbClr val="506271"/>
                </a:solidFill>
                <a:latin typeface="Arial"/>
                <a:ea typeface="Arial"/>
                <a:cs typeface="Arial"/>
              </a:rPr>
              <a:t>Charge in one hour</a:t>
            </a:r>
          </a:p>
        </p:txBody>
      </p:sp>
      <p:sp>
        <p:nvSpPr>
          <p:cNvPr id="4" name="">
            <a:extLst xmlns:a="http://schemas.openxmlformats.org/drawingml/2006/main">
              <a:ext uri="{FF2B5EF4-FFF2-40B4-BE49-F238E27FC236}">
                <a16:creationId xmlns:a16="http://schemas.microsoft.com/office/drawing/2014/main" id="{E187DD2E-908C-4987-8ED2-0781D6EF94EC}"/>
              </a:ext>
            </a:extLst>
          </p:cNvPr>
          <p:cNvSpPr>
            <a:spLocks xmlns:a="http://schemas.openxmlformats.org/drawingml/2006/main" noGrp="1"/>
          </p:cNvSpPr>
          <p:nvPr/>
        </p:nvSpPr>
        <p:spPr>
          <a:xfrm xmlns:a="http://schemas.openxmlformats.org/drawingml/2006/main">
            <a:off x="609600" y="19716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2E43"/>
                </a:solidFill>
                <a:latin typeface="Arial"/>
                <a:ea typeface="Arial"/>
                <a:cs typeface="Arial"/>
              </a:defRPr>
            </a:pPr>
            <a:r>
              <a:rPr sz="2700" b="1">
                <a:solidFill>
                  <a:srgbClr val="172E43"/>
                </a:solidFill>
                <a:latin typeface="Arial"/>
                <a:ea typeface="Arial"/>
                <a:cs typeface="Arial"/>
              </a:rPr>
              <a:t>70 × 10⁻⁶ A × 3,600 s = 0.252 C = 252 mC</a:t>
            </a:r>
          </a:p>
        </p:txBody>
      </p:sp>
      <p:sp>
        <p:nvSpPr>
          <p:cNvPr id="5" name="">
            <a:extLst xmlns:a="http://schemas.openxmlformats.org/drawingml/2006/main">
              <a:ext uri="{FF2B5EF4-FFF2-40B4-BE49-F238E27FC236}">
                <a16:creationId xmlns:a16="http://schemas.microsoft.com/office/drawing/2014/main" id="{E14B36CE-9AC7-415B-A368-57A044AED633}"/>
              </a:ext>
            </a:extLst>
          </p:cNvPr>
          <p:cNvSpPr>
            <a:spLocks xmlns:a="http://schemas.openxmlformats.org/drawingml/2006/main" noGrp="1"/>
          </p:cNvSpPr>
          <p:nvPr/>
        </p:nvSpPr>
        <p:spPr>
          <a:xfrm xmlns:a="http://schemas.openxmlformats.org/drawingml/2006/main">
            <a:off x="609600" y="28765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506271"/>
                </a:solidFill>
                <a:latin typeface="Arial"/>
                <a:ea typeface="Arial"/>
                <a:cs typeface="Arial"/>
              </a:defRPr>
            </a:pPr>
            <a:r>
              <a:rPr sz="2100" b="1">
                <a:solidFill>
                  <a:srgbClr val="506271"/>
                </a:solidFill>
                <a:latin typeface="Arial"/>
                <a:ea typeface="Arial"/>
                <a:cs typeface="Arial"/>
              </a:rPr>
              <a:t>Expected yield per mC</a:t>
            </a:r>
          </a:p>
        </p:txBody>
      </p:sp>
      <p:sp>
        <p:nvSpPr>
          <p:cNvPr id="6" name="">
            <a:extLst xmlns:a="http://schemas.openxmlformats.org/drawingml/2006/main">
              <a:ext uri="{FF2B5EF4-FFF2-40B4-BE49-F238E27FC236}">
                <a16:creationId xmlns:a16="http://schemas.microsoft.com/office/drawing/2014/main" id="{22F27FAF-73E2-474C-8763-18B30EBC0446}"/>
              </a:ext>
            </a:extLst>
          </p:cNvPr>
          <p:cNvSpPr>
            <a:spLocks xmlns:a="http://schemas.openxmlformats.org/drawingml/2006/main" noGrp="1"/>
          </p:cNvSpPr>
          <p:nvPr/>
        </p:nvSpPr>
        <p:spPr>
          <a:xfrm xmlns:a="http://schemas.openxmlformats.org/drawingml/2006/main">
            <a:off x="609600" y="34004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2E43"/>
                </a:solidFill>
                <a:latin typeface="Arial"/>
                <a:ea typeface="Arial"/>
                <a:cs typeface="Arial"/>
              </a:defRPr>
            </a:pPr>
            <a:r>
              <a:rPr sz="2325" b="0">
                <a:solidFill>
                  <a:srgbClr val="172E43"/>
                </a:solidFill>
                <a:latin typeface="Arial"/>
                <a:ea typeface="Arial"/>
                <a:cs typeface="Arial"/>
              </a:rPr>
              <a:t>(7,860,620 / 1,000) × 5.1281449263 × 10⁻⁵ = 0.403104</a:t>
            </a:r>
          </a:p>
        </p:txBody>
      </p:sp>
      <p:sp>
        <p:nvSpPr>
          <p:cNvPr id="7" name="">
            <a:extLst xmlns:a="http://schemas.openxmlformats.org/drawingml/2006/main">
              <a:ext uri="{FF2B5EF4-FFF2-40B4-BE49-F238E27FC236}">
                <a16:creationId xmlns:a16="http://schemas.microsoft.com/office/drawing/2014/main" id="{92598F53-F734-4FD0-90DF-635A42DE5AD8}"/>
              </a:ext>
            </a:extLst>
          </p:cNvPr>
          <p:cNvSpPr>
            <a:spLocks xmlns:a="http://schemas.openxmlformats.org/drawingml/2006/main" noGrp="1"/>
          </p:cNvSpPr>
          <p:nvPr/>
        </p:nvSpPr>
        <p:spPr>
          <a:xfrm xmlns:a="http://schemas.openxmlformats.org/drawingml/2006/main">
            <a:off x="609600" y="46196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06C67"/>
                </a:solidFill>
                <a:latin typeface="Arial"/>
                <a:ea typeface="Arial"/>
                <a:cs typeface="Arial"/>
              </a:defRPr>
            </a:pPr>
            <a:r>
              <a:rPr sz="2925" b="1">
                <a:solidFill>
                  <a:srgbClr val="006C67"/>
                </a:solidFill>
                <a:latin typeface="Arial"/>
                <a:ea typeface="Arial"/>
                <a:cs typeface="Arial"/>
              </a:rPr>
              <a:t>0.403104 events/mC × 252 mC = 101.6 ≈ 102 events</a:t>
            </a:r>
          </a:p>
        </p:txBody>
      </p:sp>
      <p:sp>
        <p:nvSpPr>
          <p:cNvPr id="8" name="">
            <a:extLst xmlns:a="http://schemas.openxmlformats.org/drawingml/2006/main">
              <a:ext uri="{FF2B5EF4-FFF2-40B4-BE49-F238E27FC236}">
                <a16:creationId xmlns:a16="http://schemas.microsoft.com/office/drawing/2014/main" id="{871D704A-FB03-48EE-B4B1-84C39A54A788}"/>
              </a:ext>
            </a:extLst>
          </p:cNvPr>
          <p:cNvSpPr>
            <a:spLocks xmlns:a="http://schemas.openxmlformats.org/drawingml/2006/main" noGrp="1"/>
          </p:cNvSpPr>
          <p:nvPr/>
        </p:nvSpPr>
        <p:spPr>
          <a:xfrm xmlns:a="http://schemas.openxmlformats.org/drawingml/2006/main">
            <a:off x="609600" y="58388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06271"/>
                </a:solidFill>
                <a:latin typeface="Arial"/>
                <a:ea typeface="Arial"/>
                <a:cs typeface="Arial"/>
              </a:defRPr>
            </a:pPr>
            <a:r>
              <a:rPr sz="1800" b="0">
                <a:solidFill>
                  <a:srgbClr val="506271"/>
                </a:solidFill>
                <a:latin typeface="Arial"/>
                <a:ea typeface="Arial"/>
                <a:cs typeface="Arial"/>
              </a:rPr>
              <a:t>Original SIMC normalization only. No Pythia or template-fit factors.</a:t>
            </a:r>
          </a:p>
        </p:txBody>
      </p:sp>
    </p:spTree>
    <p:extLst>
      <p:ext uri="{BB962C8B-B14F-4D97-AF65-F5344CB8AC3E}">
        <p14:creationId xmlns:p14="http://schemas.microsoft.com/office/powerpoint/2010/main" val="113964223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AD4B468-30CF-4F4D-91AF-D8B9FDB04AD8}"/>
              </a:ext>
            </a:extLst>
          </p:cNvPr>
          <p:cNvSpPr>
            <a:spLocks xmlns:a="http://schemas.openxmlformats.org/drawingml/2006/main" noGrp="1"/>
          </p:cNvSpPr>
          <p:nvPr/>
        </p:nvSpPr>
        <p:spPr>
          <a:xfrm xmlns:a="http://schemas.openxmlformats.org/drawingml/2006/main">
            <a:off x="609600" y="3810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E43"/>
                </a:solidFill>
                <a:latin typeface="Arial"/>
                <a:ea typeface="Arial"/>
                <a:cs typeface="Arial"/>
              </a:defRPr>
            </a:pPr>
            <a:r>
              <a:rPr sz="3225" b="1">
                <a:solidFill>
                  <a:srgbClr val="172E43"/>
                </a:solidFill>
                <a:latin typeface="Arial"/>
                <a:ea typeface="Arial"/>
                <a:cs typeface="Arial"/>
              </a:rPr>
              <a:t>Normalization cross-check</a:t>
            </a:r>
          </a:p>
        </p:txBody>
      </p:sp>
      <p:sp>
        <p:nvSpPr>
          <p:cNvPr id="2" name="">
            <a:extLst xmlns:a="http://schemas.openxmlformats.org/drawingml/2006/main">
              <a:ext uri="{FF2B5EF4-FFF2-40B4-BE49-F238E27FC236}">
                <a16:creationId xmlns:a16="http://schemas.microsoft.com/office/drawing/2014/main" id="{CEC159DB-47FA-4847-9EE6-3F88029A0971}"/>
              </a:ext>
            </a:extLst>
          </p:cNvPr>
          <p:cNvSpPr>
            <a:spLocks xmlns:a="http://schemas.openxmlformats.org/drawingml/2006/main" noGrp="1"/>
          </p:cNvSpPr>
          <p:nvPr/>
        </p:nvSpPr>
        <p:spPr>
          <a:xfrm xmlns:a="http://schemas.openxmlformats.org/drawingml/2006/main">
            <a:off x="1108710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271"/>
                </a:solidFill>
                <a:latin typeface="Arial"/>
                <a:ea typeface="Arial"/>
                <a:cs typeface="Arial"/>
              </a:defRPr>
            </a:pPr>
            <a:r>
              <a:rPr sz="1275" b="0">
                <a:solidFill>
                  <a:srgbClr val="506271"/>
                </a:solidFill>
                <a:latin typeface="Arial"/>
                <a:ea typeface="Arial"/>
                <a:cs typeface="Arial"/>
              </a:rPr>
              <a:t>6</a:t>
            </a:r>
          </a:p>
        </p:txBody>
      </p:sp>
      <p:graphicFrame>
        <p:nvGraphicFramePr>
          <p:cNvPr id="9" name=""/>
          <p:cNvGraphicFramePr/>
          <p:nvPr/>
        </p:nvGraphicFramePr>
        <p:xfrm>
          <a:off xmlns:a="http://schemas.openxmlformats.org/drawingml/2006/main" x="609600" y="1552575"/>
          <a:ext xmlns:a="http://schemas.openxmlformats.org/drawingml/2006/main" cx="10972800" cy="1828800"/>
        </p:xfrm>
        <a:graphic xmlns:a="http://schemas.openxmlformats.org/drawingml/2006/main">
          <a:graphicData uri="http://schemas.openxmlformats.org/drawingml/2006/table">
            <a:tbl>
              <a:tblPr/>
              <a:tblGrid>
                <a:gridCol w="7448550"/>
                <a:gridCol w="3524250"/>
              </a:tblGrid>
              <a:tr h="609600">
                <a:tc>
                  <a:txBody>
                    <a:bodyPr/>
                    <a:lstStyle/>
                    <a:p>
                      <a:r>
                        <a:rPr sz="1800" b="1">
                          <a:solidFill>
                            <a:srgbClr val="172E43"/>
                          </a:solidFill>
                          <a:latin typeface="Arial"/>
                          <a:ea typeface="Arial"/>
                          <a:cs typeface="Arial"/>
                        </a:rPr>
                        <a:t>Check with the same internal SIMC cuts</a:t>
                      </a:r>
                    </a:p>
                  </a:txBody>
                  <a:tcPr marL="133350" marR="114300" marT="95250" marB="95250">
                    <a:solidFill>
                      <a:srgbClr val="E8F0F5"/>
                    </a:solidFill>
                  </a:tcPr>
                </a:tc>
                <a:tc>
                  <a:txBody>
                    <a:bodyPr/>
                    <a:lstStyle/>
                    <a:p>
                      <a:r>
                        <a:rPr sz="1800" b="1">
                          <a:solidFill>
                            <a:srgbClr val="172E43"/>
                          </a:solidFill>
                          <a:latin typeface="Arial"/>
                          <a:ea typeface="Arial"/>
                          <a:cs typeface="Arial"/>
                        </a:rPr>
                        <a:t>Yield for 1 mC</a:t>
                      </a:r>
                    </a:p>
                  </a:txBody>
                  <a:tcPr marL="133350" marR="114300" marT="95250" marB="95250">
                    <a:solidFill>
                      <a:srgbClr val="E8F0F5"/>
                    </a:solidFill>
                  </a:tcPr>
                </a:tc>
              </a:tr>
              <a:tr h="609600">
                <a:tc>
                  <a:txBody>
                    <a:bodyPr/>
                    <a:lstStyle/>
                    <a:p>
                      <a:r>
                        <a:rPr sz="1800" b="0">
                          <a:solidFill>
                            <a:srgbClr val="172E43"/>
                          </a:solidFill>
                          <a:latin typeface="Arial"/>
                          <a:ea typeface="Arial"/>
                          <a:cs typeface="Arial"/>
                        </a:rPr>
                        <a:t>Printed SIMC wtcontr</a:t>
                      </a:r>
                    </a:p>
                  </a:txBody>
                  <a:tcPr marL="133350" marR="114300" marT="95250" marB="95250">
                    <a:solidFill>
                      <a:srgbClr val="FFFFFF"/>
                    </a:solidFill>
                  </a:tcPr>
                </a:tc>
                <a:tc>
                  <a:txBody>
                    <a:bodyPr/>
                    <a:lstStyle/>
                    <a:p>
                      <a:r>
                        <a:rPr sz="1800" b="0">
                          <a:solidFill>
                            <a:srgbClr val="172E43"/>
                          </a:solidFill>
                          <a:latin typeface="Arial"/>
                          <a:ea typeface="Arial"/>
                          <a:cs typeface="Arial"/>
                        </a:rPr>
                        <a:t>0.53698485</a:t>
                      </a:r>
                    </a:p>
                  </a:txBody>
                  <a:tcPr marL="133350" marR="114300" marT="95250" marB="95250">
                    <a:solidFill>
                      <a:srgbClr val="FFFFFF"/>
                    </a:solidFill>
                  </a:tcPr>
                </a:tc>
              </a:tr>
              <a:tr h="609600">
                <a:tc>
                  <a:txBody>
                    <a:bodyPr/>
                    <a:lstStyle/>
                    <a:p>
                      <a:r>
                        <a:rPr sz="1800" b="0">
                          <a:solidFill>
                            <a:srgbClr val="172E43"/>
                          </a:solidFill>
                          <a:latin typeface="Arial"/>
                          <a:ea typeface="Arial"/>
                          <a:cs typeface="Arial"/>
                        </a:rPr>
                        <a:t>Recomputed from ROOT event weights</a:t>
                      </a:r>
                    </a:p>
                  </a:txBody>
                  <a:tcPr marL="133350" marR="114300" marT="95250" marB="95250">
                    <a:solidFill>
                      <a:srgbClr val="FFFFFF"/>
                    </a:solidFill>
                  </a:tcPr>
                </a:tc>
                <a:tc>
                  <a:txBody>
                    <a:bodyPr/>
                    <a:lstStyle/>
                    <a:p>
                      <a:r>
                        <a:rPr sz="1800" b="0">
                          <a:solidFill>
                            <a:srgbClr val="172E43"/>
                          </a:solidFill>
                          <a:latin typeface="Arial"/>
                          <a:ea typeface="Arial"/>
                          <a:cs typeface="Arial"/>
                        </a:rPr>
                        <a:t>0.5369848543</a:t>
                      </a:r>
                    </a:p>
                  </a:txBody>
                  <a:tcPr marL="133350" marR="114300" marT="95250" marB="9525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24207B8-2908-4ED6-B57F-416CB59B8C4F}"/>
              </a:ext>
            </a:extLst>
          </p:cNvPr>
          <p:cNvSpPr>
            <a:spLocks xmlns:a="http://schemas.openxmlformats.org/drawingml/2006/main" noGrp="1"/>
          </p:cNvSpPr>
          <p:nvPr/>
        </p:nvSpPr>
        <p:spPr>
          <a:xfrm xmlns:a="http://schemas.openxmlformats.org/drawingml/2006/main">
            <a:off x="609600" y="37242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67"/>
                </a:solidFill>
                <a:latin typeface="Arial"/>
                <a:ea typeface="Arial"/>
                <a:cs typeface="Arial"/>
              </a:defRPr>
            </a:pPr>
            <a:r>
              <a:rPr sz="2325" b="1">
                <a:solidFill>
                  <a:srgbClr val="006C67"/>
                </a:solidFill>
                <a:latin typeface="Arial"/>
                <a:ea typeface="Arial"/>
                <a:cs typeface="Arial"/>
              </a:rPr>
              <a:t>The agreement verifies the normalization procedure.</a:t>
            </a:r>
          </a:p>
        </p:txBody>
      </p:sp>
      <p:sp>
        <p:nvSpPr>
          <p:cNvPr id="5" name="">
            <a:extLst xmlns:a="http://schemas.openxmlformats.org/drawingml/2006/main">
              <a:ext uri="{FF2B5EF4-FFF2-40B4-BE49-F238E27FC236}">
                <a16:creationId xmlns:a16="http://schemas.microsoft.com/office/drawing/2014/main" id="{F39ED2C3-CA51-4A2D-A0E3-E751C1C11446}"/>
              </a:ext>
            </a:extLst>
          </p:cNvPr>
          <p:cNvSpPr>
            <a:spLocks xmlns:a="http://schemas.openxmlformats.org/drawingml/2006/main" noGrp="1"/>
          </p:cNvSpPr>
          <p:nvPr/>
        </p:nvSpPr>
        <p:spPr>
          <a:xfrm xmlns:a="http://schemas.openxmlformats.org/drawingml/2006/main">
            <a:off x="609600" y="45243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E43"/>
                </a:solidFill>
                <a:latin typeface="Arial"/>
                <a:ea typeface="Arial"/>
                <a:cs typeface="Arial"/>
              </a:defRPr>
            </a:pPr>
            <a:r>
              <a:rPr sz="2100" b="0">
                <a:solidFill>
                  <a:srgbClr val="172E43"/>
                </a:solidFill>
                <a:latin typeface="Arial"/>
                <a:ea typeface="Arial"/>
                <a:cs typeface="Arial"/>
              </a:rPr>
              <a:t>Our analysis cuts differ and give 0.403104 events/mC.</a:t>
            </a:r>
          </a:p>
        </p:txBody>
      </p:sp>
      <p:sp>
        <p:nvSpPr>
          <p:cNvPr id="6" name="">
            <a:extLst xmlns:a="http://schemas.openxmlformats.org/drawingml/2006/main">
              <a:ext uri="{FF2B5EF4-FFF2-40B4-BE49-F238E27FC236}">
                <a16:creationId xmlns:a16="http://schemas.microsoft.com/office/drawing/2014/main" id="{588A9BBB-53CB-43D9-A9E2-B01C0F08FE14}"/>
              </a:ext>
            </a:extLst>
          </p:cNvPr>
          <p:cNvSpPr>
            <a:spLocks xmlns:a="http://schemas.openxmlformats.org/drawingml/2006/main" noGrp="1"/>
          </p:cNvSpPr>
          <p:nvPr/>
        </p:nvSpPr>
        <p:spPr>
          <a:xfrm xmlns:a="http://schemas.openxmlformats.org/drawingml/2006/main">
            <a:off x="609600" y="53054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271"/>
                </a:solidFill>
                <a:latin typeface="Arial"/>
                <a:ea typeface="Arial"/>
                <a:cs typeface="Arial"/>
              </a:defRPr>
            </a:pPr>
            <a:r>
              <a:rPr sz="1950" b="0">
                <a:solidFill>
                  <a:srgbClr val="506271"/>
                </a:solidFill>
                <a:latin typeface="Arial"/>
                <a:ea typeface="Arial"/>
                <a:cs typeface="Arial"/>
              </a:rPr>
              <a:t>Ntried is already in normfac. Selection is already in Σ Weight.</a:t>
            </a:r>
          </a:p>
        </p:txBody>
      </p:sp>
    </p:spTree>
    <p:extLst>
      <p:ext uri="{BB962C8B-B14F-4D97-AF65-F5344CB8AC3E}">
        <p14:creationId xmlns:p14="http://schemas.microsoft.com/office/powerpoint/2010/main" val="178246829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813C8D7-A6EF-4B04-A998-B4CB1C6A34E2}"/>
              </a:ext>
            </a:extLst>
          </p:cNvPr>
          <p:cNvSpPr>
            <a:spLocks xmlns:a="http://schemas.openxmlformats.org/drawingml/2006/main" noGrp="1"/>
          </p:cNvSpPr>
          <p:nvPr/>
        </p:nvSpPr>
        <p:spPr>
          <a:xfrm xmlns:a="http://schemas.openxmlformats.org/drawingml/2006/main">
            <a:off x="609600" y="3810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E43"/>
                </a:solidFill>
                <a:latin typeface="Arial"/>
                <a:ea typeface="Arial"/>
                <a:cs typeface="Arial"/>
              </a:defRPr>
            </a:pPr>
            <a:r>
              <a:rPr sz="3225" b="1">
                <a:solidFill>
                  <a:srgbClr val="172E43"/>
                </a:solidFill>
                <a:latin typeface="Arial"/>
                <a:ea typeface="Arial"/>
                <a:cs typeface="Arial"/>
              </a:rPr>
              <a:t>Henry’s fitted omega yields</a:t>
            </a:r>
          </a:p>
        </p:txBody>
      </p:sp>
      <p:sp>
        <p:nvSpPr>
          <p:cNvPr id="2" name="">
            <a:extLst xmlns:a="http://schemas.openxmlformats.org/drawingml/2006/main">
              <a:ext uri="{FF2B5EF4-FFF2-40B4-BE49-F238E27FC236}">
                <a16:creationId xmlns:a16="http://schemas.microsoft.com/office/drawing/2014/main" id="{4188C409-5623-4ED7-B813-B7E0EA1EF4EF}"/>
              </a:ext>
            </a:extLst>
          </p:cNvPr>
          <p:cNvSpPr>
            <a:spLocks xmlns:a="http://schemas.openxmlformats.org/drawingml/2006/main" noGrp="1"/>
          </p:cNvSpPr>
          <p:nvPr/>
        </p:nvSpPr>
        <p:spPr>
          <a:xfrm xmlns:a="http://schemas.openxmlformats.org/drawingml/2006/main">
            <a:off x="1108710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271"/>
                </a:solidFill>
                <a:latin typeface="Arial"/>
                <a:ea typeface="Arial"/>
                <a:cs typeface="Arial"/>
              </a:defRPr>
            </a:pPr>
            <a:r>
              <a:rPr sz="1275" b="0">
                <a:solidFill>
                  <a:srgbClr val="506271"/>
                </a:solidFill>
                <a:latin typeface="Arial"/>
                <a:ea typeface="Arial"/>
                <a:cs typeface="Arial"/>
              </a:rPr>
              <a:t>7</a:t>
            </a:r>
          </a:p>
        </p:txBody>
      </p:sp>
      <p:graphicFrame>
        <p:nvGraphicFramePr>
          <p:cNvPr id="8" name=""/>
          <p:cNvGraphicFramePr/>
          <p:nvPr/>
        </p:nvGraphicFramePr>
        <p:xfrm>
          <a:off xmlns:a="http://schemas.openxmlformats.org/drawingml/2006/main" x="609600" y="1447800"/>
          <a:ext xmlns:a="http://schemas.openxmlformats.org/drawingml/2006/main" cx="10972800" cy="3257550"/>
        </p:xfrm>
        <a:graphic xmlns:a="http://schemas.openxmlformats.org/drawingml/2006/main">
          <a:graphicData uri="http://schemas.openxmlformats.org/drawingml/2006/table">
            <a:tbl>
              <a:tblPr/>
              <a:tblGrid>
                <a:gridCol w="4095750"/>
                <a:gridCol w="6877050"/>
              </a:tblGrid>
              <a:tr h="542925">
                <a:tc>
                  <a:txBody>
                    <a:bodyPr/>
                    <a:lstStyle/>
                    <a:p>
                      <a:r>
                        <a:rPr sz="1800" b="1">
                          <a:solidFill>
                            <a:srgbClr val="172E43"/>
                          </a:solidFill>
                          <a:latin typeface="Arial"/>
                          <a:ea typeface="Arial"/>
                          <a:cs typeface="Arial"/>
                        </a:rPr>
                        <a:t>W interval [GeV]</a:t>
                      </a:r>
                    </a:p>
                  </a:txBody>
                  <a:tcPr marL="133350" marR="114300" marT="95250" marB="95250">
                    <a:solidFill>
                      <a:srgbClr val="E8F0F5"/>
                    </a:solidFill>
                  </a:tcPr>
                </a:tc>
                <a:tc>
                  <a:txBody>
                    <a:bodyPr/>
                    <a:lstStyle/>
                    <a:p>
                      <a:r>
                        <a:rPr sz="1800" b="1">
                          <a:solidFill>
                            <a:srgbClr val="172E43"/>
                          </a:solidFill>
                          <a:latin typeface="Arial"/>
                          <a:ea typeface="Arial"/>
                          <a:cs typeface="Arial"/>
                        </a:rPr>
                        <a:t>Sum of 11 rounded fitted yields</a:t>
                      </a:r>
                    </a:p>
                  </a:txBody>
                  <a:tcPr marL="133350" marR="114300" marT="95250" marB="95250">
                    <a:solidFill>
                      <a:srgbClr val="E8F0F5"/>
                    </a:solidFill>
                  </a:tcPr>
                </a:tc>
              </a:tr>
              <a:tr h="542925">
                <a:tc>
                  <a:txBody>
                    <a:bodyPr/>
                    <a:lstStyle/>
                    <a:p>
                      <a:r>
                        <a:rPr sz="1800" b="0">
                          <a:solidFill>
                            <a:srgbClr val="172E43"/>
                          </a:solidFill>
                          <a:latin typeface="Arial"/>
                          <a:ea typeface="Arial"/>
                          <a:cs typeface="Arial"/>
                        </a:rPr>
                        <a:t>1.80–2.00</a:t>
                      </a:r>
                    </a:p>
                  </a:txBody>
                  <a:tcPr marL="133350" marR="114300" marT="95250" marB="95250">
                    <a:solidFill>
                      <a:srgbClr val="FFFFFF"/>
                    </a:solidFill>
                  </a:tcPr>
                </a:tc>
                <a:tc>
                  <a:txBody>
                    <a:bodyPr/>
                    <a:lstStyle/>
                    <a:p>
                      <a:r>
                        <a:rPr sz="1800" b="0">
                          <a:solidFill>
                            <a:srgbClr val="172E43"/>
                          </a:solidFill>
                          <a:latin typeface="Arial"/>
                          <a:ea typeface="Arial"/>
                          <a:cs typeface="Arial"/>
                        </a:rPr>
                        <a:t>11,228</a:t>
                      </a:r>
                    </a:p>
                  </a:txBody>
                  <a:tcPr marL="133350" marR="114300" marT="95250" marB="95250">
                    <a:solidFill>
                      <a:srgbClr val="FFFFFF"/>
                    </a:solidFill>
                  </a:tcPr>
                </a:tc>
              </a:tr>
              <a:tr h="542925">
                <a:tc>
                  <a:txBody>
                    <a:bodyPr/>
                    <a:lstStyle/>
                    <a:p>
                      <a:r>
                        <a:rPr sz="1800" b="0">
                          <a:solidFill>
                            <a:srgbClr val="172E43"/>
                          </a:solidFill>
                          <a:latin typeface="Arial"/>
                          <a:ea typeface="Arial"/>
                          <a:cs typeface="Arial"/>
                        </a:rPr>
                        <a:t>2.00–2.05</a:t>
                      </a:r>
                    </a:p>
                  </a:txBody>
                  <a:tcPr marL="133350" marR="114300" marT="95250" marB="95250">
                    <a:solidFill>
                      <a:srgbClr val="FFFFFF"/>
                    </a:solidFill>
                  </a:tcPr>
                </a:tc>
                <a:tc>
                  <a:txBody>
                    <a:bodyPr/>
                    <a:lstStyle/>
                    <a:p>
                      <a:r>
                        <a:rPr sz="1800" b="0">
                          <a:solidFill>
                            <a:srgbClr val="172E43"/>
                          </a:solidFill>
                          <a:latin typeface="Arial"/>
                          <a:ea typeface="Arial"/>
                          <a:cs typeface="Arial"/>
                        </a:rPr>
                        <a:t>16,431</a:t>
                      </a:r>
                    </a:p>
                  </a:txBody>
                  <a:tcPr marL="133350" marR="114300" marT="95250" marB="95250">
                    <a:solidFill>
                      <a:srgbClr val="FFFFFF"/>
                    </a:solidFill>
                  </a:tcPr>
                </a:tc>
              </a:tr>
              <a:tr h="542925">
                <a:tc>
                  <a:txBody>
                    <a:bodyPr/>
                    <a:lstStyle/>
                    <a:p>
                      <a:r>
                        <a:rPr sz="1800" b="0">
                          <a:solidFill>
                            <a:srgbClr val="172E43"/>
                          </a:solidFill>
                          <a:latin typeface="Arial"/>
                          <a:ea typeface="Arial"/>
                          <a:cs typeface="Arial"/>
                        </a:rPr>
                        <a:t>2.05–2.10</a:t>
                      </a:r>
                    </a:p>
                  </a:txBody>
                  <a:tcPr marL="133350" marR="114300" marT="95250" marB="95250">
                    <a:solidFill>
                      <a:srgbClr val="FFFFFF"/>
                    </a:solidFill>
                  </a:tcPr>
                </a:tc>
                <a:tc>
                  <a:txBody>
                    <a:bodyPr/>
                    <a:lstStyle/>
                    <a:p>
                      <a:r>
                        <a:rPr sz="1800" b="0">
                          <a:solidFill>
                            <a:srgbClr val="172E43"/>
                          </a:solidFill>
                          <a:latin typeface="Arial"/>
                          <a:ea typeface="Arial"/>
                          <a:cs typeface="Arial"/>
                        </a:rPr>
                        <a:t>13,348</a:t>
                      </a:r>
                    </a:p>
                  </a:txBody>
                  <a:tcPr marL="133350" marR="114300" marT="95250" marB="95250">
                    <a:solidFill>
                      <a:srgbClr val="FFFFFF"/>
                    </a:solidFill>
                  </a:tcPr>
                </a:tc>
              </a:tr>
              <a:tr h="542925">
                <a:tc>
                  <a:txBody>
                    <a:bodyPr/>
                    <a:lstStyle/>
                    <a:p>
                      <a:r>
                        <a:rPr sz="1800" b="0">
                          <a:solidFill>
                            <a:srgbClr val="172E43"/>
                          </a:solidFill>
                          <a:latin typeface="Arial"/>
                          <a:ea typeface="Arial"/>
                          <a:cs typeface="Arial"/>
                        </a:rPr>
                        <a:t>2.10–2.40</a:t>
                      </a:r>
                    </a:p>
                  </a:txBody>
                  <a:tcPr marL="133350" marR="114300" marT="95250" marB="95250">
                    <a:solidFill>
                      <a:srgbClr val="FFFFFF"/>
                    </a:solidFill>
                  </a:tcPr>
                </a:tc>
                <a:tc>
                  <a:txBody>
                    <a:bodyPr/>
                    <a:lstStyle/>
                    <a:p>
                      <a:r>
                        <a:rPr sz="1800" b="0">
                          <a:solidFill>
                            <a:srgbClr val="172E43"/>
                          </a:solidFill>
                          <a:latin typeface="Arial"/>
                          <a:ea typeface="Arial"/>
                          <a:cs typeface="Arial"/>
                        </a:rPr>
                        <a:t>9,285</a:t>
                      </a:r>
                    </a:p>
                  </a:txBody>
                  <a:tcPr marL="133350" marR="114300" marT="95250" marB="95250">
                    <a:solidFill>
                      <a:srgbClr val="FFFFFF"/>
                    </a:solidFill>
                  </a:tcPr>
                </a:tc>
              </a:tr>
              <a:tr h="542925">
                <a:tc>
                  <a:txBody>
                    <a:bodyPr/>
                    <a:lstStyle/>
                    <a:p>
                      <a:r>
                        <a:rPr sz="1800" b="0">
                          <a:solidFill>
                            <a:srgbClr val="172E43"/>
                          </a:solidFill>
                          <a:latin typeface="Arial"/>
                          <a:ea typeface="Arial"/>
                          <a:cs typeface="Arial"/>
                        </a:rPr>
                        <a:t>Total</a:t>
                      </a:r>
                    </a:p>
                  </a:txBody>
                  <a:tcPr marL="133350" marR="114300" marT="95250" marB="95250">
                    <a:solidFill>
                      <a:srgbClr val="FFFFFF"/>
                    </a:solidFill>
                  </a:tcPr>
                </a:tc>
                <a:tc>
                  <a:txBody>
                    <a:bodyPr/>
                    <a:lstStyle/>
                    <a:p>
                      <a:r>
                        <a:rPr sz="1800" b="0">
                          <a:solidFill>
                            <a:srgbClr val="172E43"/>
                          </a:solidFill>
                          <a:latin typeface="Arial"/>
                          <a:ea typeface="Arial"/>
                          <a:cs typeface="Arial"/>
                        </a:rPr>
                        <a:t>50,292</a:t>
                      </a:r>
                    </a:p>
                  </a:txBody>
                  <a:tcPr marL="133350" marR="114300" marT="95250" marB="9525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295A18E-4453-458F-B9CF-B351C11DC9A0}"/>
              </a:ext>
            </a:extLst>
          </p:cNvPr>
          <p:cNvSpPr>
            <a:spLocks xmlns:a="http://schemas.openxmlformats.org/drawingml/2006/main" noGrp="1"/>
          </p:cNvSpPr>
          <p:nvPr/>
        </p:nvSpPr>
        <p:spPr>
          <a:xfrm xmlns:a="http://schemas.openxmlformats.org/drawingml/2006/main">
            <a:off x="609600" y="5048250"/>
            <a:ext cx="109728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55C95"/>
                </a:solidFill>
                <a:latin typeface="Arial"/>
                <a:ea typeface="Arial"/>
                <a:cs typeface="Arial"/>
              </a:defRPr>
            </a:pPr>
            <a:r>
              <a:rPr sz="2250" b="1">
                <a:solidFill>
                  <a:srgbClr val="155C95"/>
                </a:solidFill>
                <a:latin typeface="Arial"/>
                <a:ea typeface="Arial"/>
                <a:cs typeface="Arial"/>
              </a:rPr>
              <a:t>If this is the script’s one-day projection: 50,292 / 24 ≈ 2,096 events/h</a:t>
            </a:r>
          </a:p>
        </p:txBody>
      </p:sp>
      <p:sp>
        <p:nvSpPr>
          <p:cNvPr id="5" name="">
            <a:extLst xmlns:a="http://schemas.openxmlformats.org/drawingml/2006/main">
              <a:ext uri="{FF2B5EF4-FFF2-40B4-BE49-F238E27FC236}">
                <a16:creationId xmlns:a16="http://schemas.microsoft.com/office/drawing/2014/main" id="{A8C6144E-E4BF-4CB0-9997-F7836DFEE477}"/>
              </a:ext>
            </a:extLst>
          </p:cNvPr>
          <p:cNvSpPr>
            <a:spLocks xmlns:a="http://schemas.openxmlformats.org/drawingml/2006/main" noGrp="1"/>
          </p:cNvSpPr>
          <p:nvPr/>
        </p:nvSpPr>
        <p:spPr>
          <a:xfrm xmlns:a="http://schemas.openxmlformats.org/drawingml/2006/main">
            <a:off x="609600" y="58388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945419"/>
                </a:solidFill>
                <a:latin typeface="Arial"/>
                <a:ea typeface="Arial"/>
                <a:cs typeface="Arial"/>
              </a:defRPr>
            </a:pPr>
            <a:r>
              <a:rPr sz="1800" b="0">
                <a:solidFill>
                  <a:srgbClr val="945419"/>
                </a:solidFill>
                <a:latin typeface="Arial"/>
                <a:ea typeface="Arial"/>
                <a:cs typeface="Arial"/>
              </a:rPr>
              <a:t>The beam current and experimental conditions still require confirmation.</a:t>
            </a:r>
          </a:p>
        </p:txBody>
      </p:sp>
    </p:spTree>
    <p:extLst>
      <p:ext uri="{BB962C8B-B14F-4D97-AF65-F5344CB8AC3E}">
        <p14:creationId xmlns:p14="http://schemas.microsoft.com/office/powerpoint/2010/main" val="10393225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7A46AC5-BBAC-4FC3-BF39-20A3530B1DC6}"/>
              </a:ext>
            </a:extLst>
          </p:cNvPr>
          <p:cNvSpPr>
            <a:spLocks xmlns:a="http://schemas.openxmlformats.org/drawingml/2006/main" noGrp="1"/>
          </p:cNvSpPr>
          <p:nvPr/>
        </p:nvSpPr>
        <p:spPr>
          <a:xfrm xmlns:a="http://schemas.openxmlformats.org/drawingml/2006/main">
            <a:off x="609600" y="3810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E43"/>
                </a:solidFill>
                <a:latin typeface="Arial"/>
                <a:ea typeface="Arial"/>
                <a:cs typeface="Arial"/>
              </a:defRPr>
            </a:pPr>
            <a:r>
              <a:rPr sz="3225" b="1">
                <a:solidFill>
                  <a:srgbClr val="172E43"/>
                </a:solidFill>
                <a:latin typeface="Arial"/>
                <a:ea typeface="Arial"/>
                <a:cs typeface="Arial"/>
              </a:rPr>
              <a:t>Comparison before matching conditions</a:t>
            </a:r>
          </a:p>
        </p:txBody>
      </p:sp>
      <p:sp>
        <p:nvSpPr>
          <p:cNvPr id="2" name="">
            <a:extLst xmlns:a="http://schemas.openxmlformats.org/drawingml/2006/main">
              <a:ext uri="{FF2B5EF4-FFF2-40B4-BE49-F238E27FC236}">
                <a16:creationId xmlns:a16="http://schemas.microsoft.com/office/drawing/2014/main" id="{BE2B0ACE-9866-4C46-BDF3-E38D34E9A38B}"/>
              </a:ext>
            </a:extLst>
          </p:cNvPr>
          <p:cNvSpPr>
            <a:spLocks xmlns:a="http://schemas.openxmlformats.org/drawingml/2006/main" noGrp="1"/>
          </p:cNvSpPr>
          <p:nvPr/>
        </p:nvSpPr>
        <p:spPr>
          <a:xfrm xmlns:a="http://schemas.openxmlformats.org/drawingml/2006/main">
            <a:off x="1108710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271"/>
                </a:solidFill>
                <a:latin typeface="Arial"/>
                <a:ea typeface="Arial"/>
                <a:cs typeface="Arial"/>
              </a:defRPr>
            </a:pPr>
            <a:r>
              <a:rPr sz="1275" b="0">
                <a:solidFill>
                  <a:srgbClr val="506271"/>
                </a:solidFill>
                <a:latin typeface="Arial"/>
                <a:ea typeface="Arial"/>
                <a:cs typeface="Arial"/>
              </a:rPr>
              <a:t>8</a:t>
            </a:r>
          </a:p>
        </p:txBody>
      </p:sp>
      <p:graphicFrame>
        <p:nvGraphicFramePr>
          <p:cNvPr id="7" name=""/>
          <p:cNvGraphicFramePr/>
          <p:nvPr/>
        </p:nvGraphicFramePr>
        <p:xfrm>
          <a:off xmlns:a="http://schemas.openxmlformats.org/drawingml/2006/main" x="609600" y="1438275"/>
          <a:ext xmlns:a="http://schemas.openxmlformats.org/drawingml/2006/main" cx="10972800" cy="3790950"/>
        </p:xfrm>
        <a:graphic xmlns:a="http://schemas.openxmlformats.org/drawingml/2006/main">
          <a:graphicData uri="http://schemas.openxmlformats.org/drawingml/2006/table">
            <a:tbl>
              <a:tblPr/>
              <a:tblGrid>
                <a:gridCol w="2571750"/>
                <a:gridCol w="3886200"/>
                <a:gridCol w="4514850"/>
              </a:tblGrid>
              <a:tr h="631825">
                <a:tc>
                  <a:txBody>
                    <a:bodyPr/>
                    <a:lstStyle/>
                    <a:p>
                      <a:r>
                        <a:rPr sz="1800" b="1">
                          <a:solidFill>
                            <a:srgbClr val="172E43"/>
                          </a:solidFill>
                          <a:latin typeface="Arial"/>
                          <a:ea typeface="Arial"/>
                          <a:cs typeface="Arial"/>
                        </a:rPr>
                        <a:t>Item</a:t>
                      </a:r>
                    </a:p>
                  </a:txBody>
                  <a:tcPr marL="133350" marR="114300" marT="95250" marB="95250">
                    <a:solidFill>
                      <a:srgbClr val="E8F0F5"/>
                    </a:solidFill>
                  </a:tcPr>
                </a:tc>
                <a:tc>
                  <a:txBody>
                    <a:bodyPr/>
                    <a:lstStyle/>
                    <a:p>
                      <a:r>
                        <a:rPr sz="1800" b="1">
                          <a:solidFill>
                            <a:srgbClr val="172E43"/>
                          </a:solidFill>
                          <a:latin typeface="Arial"/>
                          <a:ea typeface="Arial"/>
                          <a:cs typeface="Arial"/>
                        </a:rPr>
                        <a:t>Our SIMC estimate</a:t>
                      </a:r>
                    </a:p>
                  </a:txBody>
                  <a:tcPr marL="133350" marR="114300" marT="95250" marB="95250">
                    <a:solidFill>
                      <a:srgbClr val="E8F0F5"/>
                    </a:solidFill>
                  </a:tcPr>
                </a:tc>
                <a:tc>
                  <a:txBody>
                    <a:bodyPr/>
                    <a:lstStyle/>
                    <a:p>
                      <a:r>
                        <a:rPr sz="1800" b="1">
                          <a:solidFill>
                            <a:srgbClr val="172E43"/>
                          </a:solidFill>
                          <a:latin typeface="Arial"/>
                          <a:ea typeface="Arial"/>
                          <a:cs typeface="Arial"/>
                        </a:rPr>
                        <a:t>Henry’s PDF / script</a:t>
                      </a:r>
                    </a:p>
                  </a:txBody>
                  <a:tcPr marL="133350" marR="114300" marT="95250" marB="95250">
                    <a:solidFill>
                      <a:srgbClr val="E8F0F5"/>
                    </a:solidFill>
                  </a:tcPr>
                </a:tc>
              </a:tr>
              <a:tr h="631825">
                <a:tc>
                  <a:txBody>
                    <a:bodyPr/>
                    <a:lstStyle/>
                    <a:p>
                      <a:r>
                        <a:rPr sz="1800" b="0">
                          <a:solidFill>
                            <a:srgbClr val="172E43"/>
                          </a:solidFill>
                          <a:latin typeface="Arial"/>
                          <a:ea typeface="Arial"/>
                          <a:cs typeface="Arial"/>
                        </a:rPr>
                        <a:t>Nominal events per hour</a:t>
                      </a:r>
                    </a:p>
                  </a:txBody>
                  <a:tcPr marL="133350" marR="114300" marT="95250" marB="95250">
                    <a:solidFill>
                      <a:srgbClr val="FFFFFF"/>
                    </a:solidFill>
                  </a:tcPr>
                </a:tc>
                <a:tc>
                  <a:txBody>
                    <a:bodyPr/>
                    <a:lstStyle/>
                    <a:p>
                      <a:r>
                        <a:rPr sz="1800" b="0">
                          <a:solidFill>
                            <a:srgbClr val="172E43"/>
                          </a:solidFill>
                          <a:latin typeface="Arial"/>
                          <a:ea typeface="Arial"/>
                          <a:cs typeface="Arial"/>
                        </a:rPr>
                        <a:t>101.6 at 70 μA</a:t>
                      </a:r>
                    </a:p>
                  </a:txBody>
                  <a:tcPr marL="133350" marR="114300" marT="95250" marB="95250">
                    <a:solidFill>
                      <a:srgbClr val="FFFFFF"/>
                    </a:solidFill>
                  </a:tcPr>
                </a:tc>
                <a:tc>
                  <a:txBody>
                    <a:bodyPr/>
                    <a:lstStyle/>
                    <a:p>
                      <a:r>
                        <a:rPr sz="1800" b="0">
                          <a:solidFill>
                            <a:srgbClr val="172E43"/>
                          </a:solidFill>
                          <a:latin typeface="Arial"/>
                          <a:ea typeface="Arial"/>
                          <a:cs typeface="Arial"/>
                        </a:rPr>
                        <a:t>≈2,096 if one day = 24 h</a:t>
                      </a:r>
                    </a:p>
                  </a:txBody>
                  <a:tcPr marL="133350" marR="114300" marT="95250" marB="95250">
                    <a:solidFill>
                      <a:srgbClr val="FFFFFF"/>
                    </a:solidFill>
                  </a:tcPr>
                </a:tc>
              </a:tr>
              <a:tr h="631825">
                <a:tc>
                  <a:txBody>
                    <a:bodyPr/>
                    <a:lstStyle/>
                    <a:p>
                      <a:r>
                        <a:rPr sz="1800" b="0">
                          <a:solidFill>
                            <a:srgbClr val="172E43"/>
                          </a:solidFill>
                          <a:latin typeface="Arial"/>
                          <a:ea typeface="Arial"/>
                          <a:cs typeface="Arial"/>
                        </a:rPr>
                        <a:t>Counting method</a:t>
                      </a:r>
                    </a:p>
                  </a:txBody>
                  <a:tcPr marL="133350" marR="114300" marT="95250" marB="95250">
                    <a:solidFill>
                      <a:srgbClr val="FFFFFF"/>
                    </a:solidFill>
                  </a:tcPr>
                </a:tc>
                <a:tc>
                  <a:txBody>
                    <a:bodyPr/>
                    <a:lstStyle/>
                    <a:p>
                      <a:r>
                        <a:rPr sz="1800" b="0">
                          <a:solidFill>
                            <a:srgbClr val="172E43"/>
                          </a:solidFill>
                          <a:latin typeface="Arial"/>
                          <a:ea typeface="Arial"/>
                          <a:cs typeface="Arial"/>
                        </a:rPr>
                        <a:t>Sum original omega weights</a:t>
                      </a:r>
                    </a:p>
                  </a:txBody>
                  <a:tcPr marL="133350" marR="114300" marT="95250" marB="95250">
                    <a:solidFill>
                      <a:srgbClr val="FFFFFF"/>
                    </a:solidFill>
                  </a:tcPr>
                </a:tc>
                <a:tc>
                  <a:txBody>
                    <a:bodyPr/>
                    <a:lstStyle/>
                    <a:p>
                      <a:r>
                        <a:rPr sz="1800" b="0">
                          <a:solidFill>
                            <a:srgbClr val="172E43"/>
                          </a:solidFill>
                          <a:latin typeface="Arial"/>
                          <a:ea typeface="Arial"/>
                          <a:cs typeface="Arial"/>
                        </a:rPr>
                        <a:t>Signal window minus fitted BG</a:t>
                      </a:r>
                    </a:p>
                  </a:txBody>
                  <a:tcPr marL="133350" marR="114300" marT="95250" marB="95250">
                    <a:solidFill>
                      <a:srgbClr val="FFFFFF"/>
                    </a:solidFill>
                  </a:tcPr>
                </a:tc>
              </a:tr>
              <a:tr h="631825">
                <a:tc>
                  <a:txBody>
                    <a:bodyPr/>
                    <a:lstStyle/>
                    <a:p>
                      <a:r>
                        <a:rPr sz="1800" b="0">
                          <a:solidFill>
                            <a:srgbClr val="172E43"/>
                          </a:solidFill>
                          <a:latin typeface="Arial"/>
                          <a:ea typeface="Arial"/>
                          <a:cs typeface="Arial"/>
                        </a:rPr>
                        <a:t>W and |t| selection</a:t>
                      </a:r>
                    </a:p>
                  </a:txBody>
                  <a:tcPr marL="133350" marR="114300" marT="95250" marB="95250">
                    <a:solidFill>
                      <a:srgbClr val="FFFFFF"/>
                    </a:solidFill>
                  </a:tcPr>
                </a:tc>
                <a:tc>
                  <a:txBody>
                    <a:bodyPr/>
                    <a:lstStyle/>
                    <a:p>
                      <a:r>
                        <a:rPr sz="1800" b="0">
                          <a:solidFill>
                            <a:srgbClr val="172E43"/>
                          </a:solidFill>
                          <a:latin typeface="Arial"/>
                          <a:ea typeface="Arial"/>
                          <a:cs typeface="Arial"/>
                        </a:rPr>
                        <a:t>No additional selection</a:t>
                      </a:r>
                    </a:p>
                  </a:txBody>
                  <a:tcPr marL="133350" marR="114300" marT="95250" marB="95250">
                    <a:solidFill>
                      <a:srgbClr val="FFFFFF"/>
                    </a:solidFill>
                  </a:tcPr>
                </a:tc>
                <a:tc>
                  <a:txBody>
                    <a:bodyPr/>
                    <a:lstStyle/>
                    <a:p>
                      <a:r>
                        <a:rPr sz="1800" b="0">
                          <a:solidFill>
                            <a:srgbClr val="172E43"/>
                          </a:solidFill>
                          <a:latin typeface="Arial"/>
                          <a:ea typeface="Arial"/>
                          <a:cs typeface="Arial"/>
                        </a:rPr>
                        <a:t>1.80–2.40 GeV, 0.82–1.10 GeV²</a:t>
                      </a:r>
                    </a:p>
                  </a:txBody>
                  <a:tcPr marL="133350" marR="114300" marT="95250" marB="95250">
                    <a:solidFill>
                      <a:srgbClr val="FFFFFF"/>
                    </a:solidFill>
                  </a:tcPr>
                </a:tc>
              </a:tr>
              <a:tr h="631825">
                <a:tc>
                  <a:txBody>
                    <a:bodyPr/>
                    <a:lstStyle/>
                    <a:p>
                      <a:r>
                        <a:rPr sz="1800" b="0">
                          <a:solidFill>
                            <a:srgbClr val="172E43"/>
                          </a:solidFill>
                          <a:latin typeface="Arial"/>
                          <a:ea typeface="Arial"/>
                          <a:cs typeface="Arial"/>
                        </a:rPr>
                        <a:t>Mx signal window</a:t>
                      </a:r>
                    </a:p>
                  </a:txBody>
                  <a:tcPr marL="133350" marR="114300" marT="95250" marB="95250">
                    <a:solidFill>
                      <a:srgbClr val="FFFFFF"/>
                    </a:solidFill>
                  </a:tcPr>
                </a:tc>
                <a:tc>
                  <a:txBody>
                    <a:bodyPr/>
                    <a:lstStyle/>
                    <a:p>
                      <a:r>
                        <a:rPr sz="1800" b="0">
                          <a:solidFill>
                            <a:srgbClr val="172E43"/>
                          </a:solidFill>
                          <a:latin typeface="Arial"/>
                          <a:ea typeface="Arial"/>
                          <a:cs typeface="Arial"/>
                        </a:rPr>
                        <a:t>None</a:t>
                      </a:r>
                    </a:p>
                  </a:txBody>
                  <a:tcPr marL="133350" marR="114300" marT="95250" marB="95250">
                    <a:solidFill>
                      <a:srgbClr val="FFFFFF"/>
                    </a:solidFill>
                  </a:tcPr>
                </a:tc>
                <a:tc>
                  <a:txBody>
                    <a:bodyPr/>
                    <a:lstStyle/>
                    <a:p>
                      <a:r>
                        <a:rPr sz="1800" b="0">
                          <a:solidFill>
                            <a:srgbClr val="172E43"/>
                          </a:solidFill>
                          <a:latin typeface="Arial"/>
                          <a:ea typeface="Arial"/>
                          <a:cs typeface="Arial"/>
                        </a:rPr>
                        <a:t>0.73–0.84 GeV</a:t>
                      </a:r>
                    </a:p>
                  </a:txBody>
                  <a:tcPr marL="133350" marR="114300" marT="95250" marB="95250">
                    <a:solidFill>
                      <a:srgbClr val="FFFFFF"/>
                    </a:solidFill>
                  </a:tcPr>
                </a:tc>
              </a:tr>
              <a:tr h="631825">
                <a:tc>
                  <a:txBody>
                    <a:bodyPr/>
                    <a:lstStyle/>
                    <a:p>
                      <a:r>
                        <a:rPr sz="1800" b="0">
                          <a:solidFill>
                            <a:srgbClr val="172E43"/>
                          </a:solidFill>
                          <a:latin typeface="Arial"/>
                          <a:ea typeface="Arial"/>
                          <a:cs typeface="Arial"/>
                        </a:rPr>
                        <a:t>Acceptance cuts / settings</a:t>
                      </a:r>
                    </a:p>
                  </a:txBody>
                  <a:tcPr marL="133350" marR="114300" marT="95250" marB="95250">
                    <a:solidFill>
                      <a:srgbClr val="FFFFFF"/>
                    </a:solidFill>
                  </a:tcPr>
                </a:tc>
                <a:tc>
                  <a:txBody>
                    <a:bodyPr/>
                    <a:lstStyle/>
                    <a:p>
                      <a:r>
                        <a:rPr sz="1800" b="0">
                          <a:solidFill>
                            <a:srgbClr val="172E43"/>
                          </a:solidFill>
                          <a:latin typeface="Arial"/>
                          <a:ea typeface="Arial"/>
                          <a:cs typeface="Arial"/>
                        </a:rPr>
                        <a:t>Our input and cuts known</a:t>
                      </a:r>
                    </a:p>
                  </a:txBody>
                  <a:tcPr marL="133350" marR="114300" marT="95250" marB="95250">
                    <a:solidFill>
                      <a:srgbClr val="FFFFFF"/>
                    </a:solidFill>
                  </a:tcPr>
                </a:tc>
                <a:tc>
                  <a:txBody>
                    <a:bodyPr/>
                    <a:lstStyle/>
                    <a:p>
                      <a:r>
                        <a:rPr sz="1800" b="0">
                          <a:solidFill>
                            <a:srgbClr val="172E43"/>
                          </a:solidFill>
                          <a:latin typeface="Arial"/>
                          <a:ea typeface="Arial"/>
                          <a:cs typeface="Arial"/>
                        </a:rPr>
                        <a:t>Earlier processing needs audit</a:t>
                      </a:r>
                    </a:p>
                  </a:txBody>
                  <a:tcPr marL="133350" marR="114300" marT="95250" marB="9525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BE0AA15-825B-4930-87DB-6AFBA4D8F47E}"/>
              </a:ext>
            </a:extLst>
          </p:cNvPr>
          <p:cNvSpPr>
            <a:spLocks xmlns:a="http://schemas.openxmlformats.org/drawingml/2006/main" noGrp="1"/>
          </p:cNvSpPr>
          <p:nvPr/>
        </p:nvSpPr>
        <p:spPr>
          <a:xfrm xmlns:a="http://schemas.openxmlformats.org/drawingml/2006/main">
            <a:off x="609600" y="5562600"/>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945419"/>
                </a:solidFill>
                <a:latin typeface="Arial"/>
                <a:ea typeface="Arial"/>
                <a:cs typeface="Arial"/>
              </a:defRPr>
            </a:pPr>
            <a:r>
              <a:rPr sz="2025" b="0">
                <a:solidFill>
                  <a:srgbClr val="945419"/>
                </a:solidFill>
                <a:latin typeface="Arial"/>
                <a:ea typeface="Arial"/>
                <a:cs typeface="Arial"/>
              </a:rPr>
              <a:t>These estimates use different definitions and unverified exposure matching.</a:t>
            </a:r>
          </a:p>
        </p:txBody>
      </p:sp>
    </p:spTree>
    <p:extLst>
      <p:ext uri="{BB962C8B-B14F-4D97-AF65-F5344CB8AC3E}">
        <p14:creationId xmlns:p14="http://schemas.microsoft.com/office/powerpoint/2010/main" val="117200392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90C3F92-5D07-4D23-B6A4-269775D3F5A1}"/>
              </a:ext>
            </a:extLst>
          </p:cNvPr>
          <p:cNvSpPr>
            <a:spLocks xmlns:a="http://schemas.openxmlformats.org/drawingml/2006/main" noGrp="1"/>
          </p:cNvSpPr>
          <p:nvPr/>
        </p:nvSpPr>
        <p:spPr>
          <a:xfrm xmlns:a="http://schemas.openxmlformats.org/drawingml/2006/main">
            <a:off x="609600" y="3810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E43"/>
                </a:solidFill>
                <a:latin typeface="Arial"/>
                <a:ea typeface="Arial"/>
                <a:cs typeface="Arial"/>
              </a:defRPr>
            </a:pPr>
            <a:r>
              <a:rPr sz="3225" b="1">
                <a:solidFill>
                  <a:srgbClr val="172E43"/>
                </a:solidFill>
                <a:latin typeface="Arial"/>
                <a:ea typeface="Arial"/>
                <a:cs typeface="Arial"/>
              </a:rPr>
              <a:t>Conditions for a matched rate comparison</a:t>
            </a:r>
          </a:p>
        </p:txBody>
      </p:sp>
      <p:sp>
        <p:nvSpPr>
          <p:cNvPr id="2" name="">
            <a:extLst xmlns:a="http://schemas.openxmlformats.org/drawingml/2006/main">
              <a:ext uri="{FF2B5EF4-FFF2-40B4-BE49-F238E27FC236}">
                <a16:creationId xmlns:a16="http://schemas.microsoft.com/office/drawing/2014/main" id="{1FFF0EF3-B633-489B-892B-7727781467B3}"/>
              </a:ext>
            </a:extLst>
          </p:cNvPr>
          <p:cNvSpPr>
            <a:spLocks xmlns:a="http://schemas.openxmlformats.org/drawingml/2006/main" noGrp="1"/>
          </p:cNvSpPr>
          <p:nvPr/>
        </p:nvSpPr>
        <p:spPr>
          <a:xfrm xmlns:a="http://schemas.openxmlformats.org/drawingml/2006/main">
            <a:off x="1108710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271"/>
                </a:solidFill>
                <a:latin typeface="Arial"/>
                <a:ea typeface="Arial"/>
                <a:cs typeface="Arial"/>
              </a:defRPr>
            </a:pPr>
            <a:r>
              <a:rPr sz="1275" b="0">
                <a:solidFill>
                  <a:srgbClr val="506271"/>
                </a:solidFill>
                <a:latin typeface="Arial"/>
                <a:ea typeface="Arial"/>
                <a:cs typeface="Arial"/>
              </a:rPr>
              <a:t>9</a:t>
            </a:r>
          </a:p>
        </p:txBody>
      </p:sp>
      <p:sp>
        <p:nvSpPr>
          <p:cNvPr id="3" name="">
            <a:extLst xmlns:a="http://schemas.openxmlformats.org/drawingml/2006/main">
              <a:ext uri="{FF2B5EF4-FFF2-40B4-BE49-F238E27FC236}">
                <a16:creationId xmlns:a16="http://schemas.microsoft.com/office/drawing/2014/main" id="{CA02E1E3-294D-4403-A3C6-1F4680C4A973}"/>
              </a:ext>
            </a:extLst>
          </p:cNvPr>
          <p:cNvSpPr>
            <a:spLocks xmlns:a="http://schemas.openxmlformats.org/drawingml/2006/main" noGrp="1"/>
          </p:cNvSpPr>
          <p:nvPr/>
        </p:nvSpPr>
        <p:spPr>
          <a:xfrm xmlns:a="http://schemas.openxmlformats.org/drawingml/2006/main">
            <a:off x="609600" y="14001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5C95"/>
                </a:solidFill>
                <a:latin typeface="Arial"/>
                <a:ea typeface="Arial"/>
                <a:cs typeface="Arial"/>
              </a:defRPr>
            </a:pPr>
            <a:r>
              <a:rPr sz="2175" b="1">
                <a:solidFill>
                  <a:srgbClr val="155C95"/>
                </a:solidFill>
                <a:latin typeface="Arial"/>
                <a:ea typeface="Arial"/>
                <a:cs typeface="Arial"/>
              </a:rPr>
              <a:t>Model and apparatus</a:t>
            </a:r>
          </a:p>
        </p:txBody>
      </p:sp>
      <p:sp>
        <p:nvSpPr>
          <p:cNvPr id="4" name="">
            <a:extLst xmlns:a="http://schemas.openxmlformats.org/drawingml/2006/main">
              <a:ext uri="{FF2B5EF4-FFF2-40B4-BE49-F238E27FC236}">
                <a16:creationId xmlns:a16="http://schemas.microsoft.com/office/drawing/2014/main" id="{BF6ADB23-53A0-4CCD-A11B-0A03458C8B7F}"/>
              </a:ext>
            </a:extLst>
          </p:cNvPr>
          <p:cNvSpPr>
            <a:spLocks xmlns:a="http://schemas.openxmlformats.org/drawingml/2006/main" noGrp="1"/>
          </p:cNvSpPr>
          <p:nvPr/>
        </p:nvSpPr>
        <p:spPr>
          <a:xfrm xmlns:a="http://schemas.openxmlformats.org/drawingml/2006/main">
            <a:off x="609600" y="18859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E43"/>
                </a:solidFill>
                <a:latin typeface="Arial"/>
                <a:ea typeface="Arial"/>
                <a:cs typeface="Arial"/>
              </a:defRPr>
            </a:pPr>
            <a:r>
              <a:rPr sz="2025" b="0">
                <a:solidFill>
                  <a:srgbClr val="172E43"/>
                </a:solidFill>
                <a:latin typeface="Arial"/>
                <a:ea typeface="Arial"/>
                <a:cs typeface="Arial"/>
              </a:rPr>
              <a:t>Confirm the omega model, target thickness and spectrometer settings.</a:t>
            </a:r>
          </a:p>
        </p:txBody>
      </p:sp>
      <p:sp>
        <p:nvSpPr>
          <p:cNvPr id="5" name="">
            <a:extLst xmlns:a="http://schemas.openxmlformats.org/drawingml/2006/main">
              <a:ext uri="{FF2B5EF4-FFF2-40B4-BE49-F238E27FC236}">
                <a16:creationId xmlns:a16="http://schemas.microsoft.com/office/drawing/2014/main" id="{95FE669D-3021-4DAF-BDC7-F58FD73F7172}"/>
              </a:ext>
            </a:extLst>
          </p:cNvPr>
          <p:cNvSpPr>
            <a:spLocks xmlns:a="http://schemas.openxmlformats.org/drawingml/2006/main" noGrp="1"/>
          </p:cNvSpPr>
          <p:nvPr/>
        </p:nvSpPr>
        <p:spPr>
          <a:xfrm xmlns:a="http://schemas.openxmlformats.org/drawingml/2006/main">
            <a:off x="609600" y="26955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5C95"/>
                </a:solidFill>
                <a:latin typeface="Arial"/>
                <a:ea typeface="Arial"/>
                <a:cs typeface="Arial"/>
              </a:defRPr>
            </a:pPr>
            <a:r>
              <a:rPr sz="2175" b="1">
                <a:solidFill>
                  <a:srgbClr val="155C95"/>
                </a:solidFill>
                <a:latin typeface="Arial"/>
                <a:ea typeface="Arial"/>
                <a:cs typeface="Arial"/>
              </a:rPr>
              <a:t>Generation coverage</a:t>
            </a:r>
          </a:p>
        </p:txBody>
      </p:sp>
      <p:sp>
        <p:nvSpPr>
          <p:cNvPr id="6" name="">
            <a:extLst xmlns:a="http://schemas.openxmlformats.org/drawingml/2006/main">
              <a:ext uri="{FF2B5EF4-FFF2-40B4-BE49-F238E27FC236}">
                <a16:creationId xmlns:a16="http://schemas.microsoft.com/office/drawing/2014/main" id="{F0FB89F8-05C0-4AF6-BC05-AAF96E961BB0}"/>
              </a:ext>
            </a:extLst>
          </p:cNvPr>
          <p:cNvSpPr>
            <a:spLocks xmlns:a="http://schemas.openxmlformats.org/drawingml/2006/main" noGrp="1"/>
          </p:cNvSpPr>
          <p:nvPr/>
        </p:nvSpPr>
        <p:spPr>
          <a:xfrm xmlns:a="http://schemas.openxmlformats.org/drawingml/2006/main">
            <a:off x="609600" y="3181350"/>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E43"/>
                </a:solidFill>
                <a:latin typeface="Arial"/>
                <a:ea typeface="Arial"/>
                <a:cs typeface="Arial"/>
              </a:defRPr>
            </a:pPr>
            <a:r>
              <a:rPr sz="2025" b="0">
                <a:solidFill>
                  <a:srgbClr val="172E43"/>
                </a:solidFill>
                <a:latin typeface="Arial"/>
                <a:ea typeface="Arial"/>
                <a:cs typeface="Arial"/>
              </a:rPr>
              <a:t>Electron δ generation: −10.5% to +10.5%.</a:t>
            </a:r>
          </a:p>
          <a:p xmlns:a="http://schemas.openxmlformats.org/drawingml/2006/main">
            <a:pPr>
              <a:defRPr sz="2025" b="0">
                <a:solidFill>
                  <a:srgbClr val="172E43"/>
                </a:solidFill>
                <a:latin typeface="Arial"/>
                <a:ea typeface="Arial"/>
                <a:cs typeface="Arial"/>
              </a:defRPr>
            </a:pPr>
            <a:r>
              <a:rPr sz="2025" b="0">
                <a:solidFill>
                  <a:srgbClr val="172E43"/>
                </a:solidFill>
                <a:latin typeface="Arial"/>
                <a:ea typeface="Arial"/>
                <a:cs typeface="Arial"/>
              </a:rPr>
              <a:t>The requested SHMS cut extends to +22%. Coverage needs a check.</a:t>
            </a:r>
          </a:p>
        </p:txBody>
      </p:sp>
      <p:sp>
        <p:nvSpPr>
          <p:cNvPr id="7" name="">
            <a:extLst xmlns:a="http://schemas.openxmlformats.org/drawingml/2006/main">
              <a:ext uri="{FF2B5EF4-FFF2-40B4-BE49-F238E27FC236}">
                <a16:creationId xmlns:a16="http://schemas.microsoft.com/office/drawing/2014/main" id="{D1E07164-B7DA-404A-88E7-792F449314D1}"/>
              </a:ext>
            </a:extLst>
          </p:cNvPr>
          <p:cNvSpPr>
            <a:spLocks xmlns:a="http://schemas.openxmlformats.org/drawingml/2006/main" noGrp="1"/>
          </p:cNvSpPr>
          <p:nvPr/>
        </p:nvSpPr>
        <p:spPr>
          <a:xfrm xmlns:a="http://schemas.openxmlformats.org/drawingml/2006/main">
            <a:off x="609600" y="41814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5C95"/>
                </a:solidFill>
                <a:latin typeface="Arial"/>
                <a:ea typeface="Arial"/>
                <a:cs typeface="Arial"/>
              </a:defRPr>
            </a:pPr>
            <a:r>
              <a:rPr sz="2175" b="1">
                <a:solidFill>
                  <a:srgbClr val="155C95"/>
                </a:solidFill>
                <a:latin typeface="Arial"/>
                <a:ea typeface="Arial"/>
                <a:cs typeface="Arial"/>
              </a:rPr>
              <a:t>Experimental conditions and counting definition</a:t>
            </a:r>
          </a:p>
        </p:txBody>
      </p:sp>
      <p:sp>
        <p:nvSpPr>
          <p:cNvPr id="8" name="">
            <a:extLst xmlns:a="http://schemas.openxmlformats.org/drawingml/2006/main">
              <a:ext uri="{FF2B5EF4-FFF2-40B4-BE49-F238E27FC236}">
                <a16:creationId xmlns:a16="http://schemas.microsoft.com/office/drawing/2014/main" id="{B3597A70-1EBA-48B4-BD4D-7FAD37DFB491}"/>
              </a:ext>
            </a:extLst>
          </p:cNvPr>
          <p:cNvSpPr>
            <a:spLocks xmlns:a="http://schemas.openxmlformats.org/drawingml/2006/main" noGrp="1"/>
          </p:cNvSpPr>
          <p:nvPr/>
        </p:nvSpPr>
        <p:spPr>
          <a:xfrm xmlns:a="http://schemas.openxmlformats.org/drawingml/2006/main">
            <a:off x="609600" y="4667250"/>
            <a:ext cx="109728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E43"/>
                </a:solidFill>
                <a:latin typeface="Arial"/>
                <a:ea typeface="Arial"/>
                <a:cs typeface="Arial"/>
              </a:defRPr>
            </a:pPr>
            <a:r>
              <a:rPr sz="1950" b="0">
                <a:solidFill>
                  <a:srgbClr val="172E43"/>
                </a:solidFill>
                <a:latin typeface="Arial"/>
                <a:ea typeface="Arial"/>
                <a:cs typeface="Arial"/>
              </a:rPr>
              <a:t>Radiation, energy loss and smearing are off.</a:t>
            </a:r>
          </a:p>
          <a:p xmlns:a="http://schemas.openxmlformats.org/drawingml/2006/main">
            <a:pPr>
              <a:defRPr sz="1950" b="0">
                <a:solidFill>
                  <a:srgbClr val="172E43"/>
                </a:solidFill>
                <a:latin typeface="Arial"/>
                <a:ea typeface="Arial"/>
                <a:cs typeface="Arial"/>
              </a:defRPr>
            </a:pPr>
            <a:r>
              <a:rPr sz="1950" b="0">
                <a:solidFill>
                  <a:srgbClr val="172E43"/>
                </a:solidFill>
                <a:latin typeface="Arial"/>
                <a:ea typeface="Arial"/>
                <a:cs typeface="Arial"/>
              </a:rPr>
              <a:t>Tracking/PID/trigger efficiencies and DAQ live time are not included.</a:t>
            </a:r>
          </a:p>
          <a:p xmlns:a="http://schemas.openxmlformats.org/drawingml/2006/main">
            <a:pPr>
              <a:defRPr sz="1950" b="0">
                <a:solidFill>
                  <a:srgbClr val="172E43"/>
                </a:solidFill>
                <a:latin typeface="Arial"/>
                <a:ea typeface="Arial"/>
                <a:cs typeface="Arial"/>
              </a:defRPr>
            </a:pPr>
            <a:r>
              <a:rPr sz="1950" b="0">
                <a:solidFill>
                  <a:srgbClr val="172E43"/>
                </a:solidFill>
                <a:latin typeface="Arial"/>
                <a:ea typeface="Arial"/>
                <a:cs typeface="Arial"/>
              </a:rPr>
              <a:t>Match Henry’s cuts, mass window, kinematic bins and beam exposure.</a:t>
            </a:r>
          </a:p>
        </p:txBody>
      </p:sp>
    </p:spTree>
    <p:extLst>
      <p:ext uri="{BB962C8B-B14F-4D97-AF65-F5344CB8AC3E}">
        <p14:creationId xmlns:p14="http://schemas.microsoft.com/office/powerpoint/2010/main" val="35805508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792FA3D-415B-459B-968A-94D560B8439E}"/>
              </a:ext>
            </a:extLst>
          </p:cNvPr>
          <p:cNvSpPr>
            <a:spLocks xmlns:a="http://schemas.openxmlformats.org/drawingml/2006/main" noGrp="1"/>
          </p:cNvSpPr>
          <p:nvPr/>
        </p:nvSpPr>
        <p:spPr>
          <a:xfrm xmlns:a="http://schemas.openxmlformats.org/drawingml/2006/main">
            <a:off x="609600" y="3810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E43"/>
                </a:solidFill>
                <a:latin typeface="Arial"/>
                <a:ea typeface="Arial"/>
                <a:cs typeface="Arial"/>
              </a:defRPr>
            </a:pPr>
            <a:r>
              <a:rPr sz="3225" b="1">
                <a:solidFill>
                  <a:srgbClr val="172E43"/>
                </a:solidFill>
                <a:latin typeface="Arial"/>
                <a:ea typeface="Arial"/>
                <a:cs typeface="Arial"/>
              </a:rPr>
              <a:t>Backup: calculation and source files</a:t>
            </a:r>
          </a:p>
        </p:txBody>
      </p:sp>
      <p:sp>
        <p:nvSpPr>
          <p:cNvPr id="2" name="">
            <a:extLst xmlns:a="http://schemas.openxmlformats.org/drawingml/2006/main">
              <a:ext uri="{FF2B5EF4-FFF2-40B4-BE49-F238E27FC236}">
                <a16:creationId xmlns:a16="http://schemas.microsoft.com/office/drawing/2014/main" id="{19CDF9E8-316A-47E0-8544-87F36F6F1E6B}"/>
              </a:ext>
            </a:extLst>
          </p:cNvPr>
          <p:cNvSpPr>
            <a:spLocks xmlns:a="http://schemas.openxmlformats.org/drawingml/2006/main" noGrp="1"/>
          </p:cNvSpPr>
          <p:nvPr/>
        </p:nvSpPr>
        <p:spPr>
          <a:xfrm xmlns:a="http://schemas.openxmlformats.org/drawingml/2006/main">
            <a:off x="1108710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271"/>
                </a:solidFill>
                <a:latin typeface="Arial"/>
                <a:ea typeface="Arial"/>
                <a:cs typeface="Arial"/>
              </a:defRPr>
            </a:pPr>
            <a:r>
              <a:rPr sz="1275" b="0">
                <a:solidFill>
                  <a:srgbClr val="506271"/>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583B330C-B33C-4009-8CA0-68D7DDC774CC}"/>
              </a:ext>
            </a:extLst>
          </p:cNvPr>
          <p:cNvSpPr>
            <a:spLocks xmlns:a="http://schemas.openxmlformats.org/drawingml/2006/main" noGrp="1"/>
          </p:cNvSpPr>
          <p:nvPr/>
        </p:nvSpPr>
        <p:spPr>
          <a:xfrm xmlns:a="http://schemas.openxmlformats.org/drawingml/2006/main">
            <a:off x="609600" y="1571625"/>
            <a:ext cx="109728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5C95"/>
                </a:solidFill>
                <a:latin typeface="Arial"/>
                <a:ea typeface="Arial"/>
                <a:cs typeface="Arial"/>
              </a:defRPr>
            </a:pPr>
            <a:r>
              <a:rPr sz="2175" b="0">
                <a:solidFill>
                  <a:srgbClr val="155C95"/>
                </a:solidFill>
                <a:latin typeface="Arial"/>
                <a:ea typeface="Arial"/>
                <a:cs typeface="Arial"/>
              </a:rPr>
              <a:t>charge_mC = 70e-6 * 3600 * 1000</a:t>
            </a:r>
          </a:p>
          <a:p xmlns:a="http://schemas.openxmlformats.org/drawingml/2006/main">
            <a:pPr>
              <a:defRPr sz="2175" b="0">
                <a:solidFill>
                  <a:srgbClr val="155C95"/>
                </a:solidFill>
                <a:latin typeface="Arial"/>
                <a:ea typeface="Arial"/>
                <a:cs typeface="Arial"/>
              </a:defRPr>
            </a:pPr>
            <a:r>
              <a:rPr sz="2175" b="0">
                <a:solidFill>
                  <a:srgbClr val="155C95"/>
                </a:solidFill>
                <a:latin typeface="Arial"/>
                <a:ea typeface="Arial"/>
                <a:cs typeface="Arial"/>
              </a:rPr>
              <a:t>scale = norm / saved * charge_mC / input_charge</a:t>
            </a:r>
          </a:p>
          <a:p xmlns:a="http://schemas.openxmlformats.org/drawingml/2006/main">
            <a:pPr>
              <a:defRPr sz="2175" b="0">
                <a:solidFill>
                  <a:srgbClr val="155C95"/>
                </a:solidFill>
                <a:latin typeface="Arial"/>
                <a:ea typeface="Arial"/>
                <a:cs typeface="Arial"/>
              </a:defRPr>
            </a:pPr>
            <a:r>
              <a:rPr sz="2175" b="0">
                <a:solidFill>
                  <a:srgbClr val="155C95"/>
                </a:solidFill>
                <a:latin typeface="Arial"/>
                <a:ea typeface="Arial"/>
                <a:cs typeface="Arial"/>
              </a:rPr>
              <a:t>expected = scale * math.fsum(cut_w)</a:t>
            </a:r>
          </a:p>
        </p:txBody>
      </p:sp>
      <p:sp>
        <p:nvSpPr>
          <p:cNvPr id="4" name="">
            <a:extLst xmlns:a="http://schemas.openxmlformats.org/drawingml/2006/main">
              <a:ext uri="{FF2B5EF4-FFF2-40B4-BE49-F238E27FC236}">
                <a16:creationId xmlns:a16="http://schemas.microsoft.com/office/drawing/2014/main" id="{2EF418D4-8661-4EE4-A2E7-9FC1A34FCDF1}"/>
              </a:ext>
            </a:extLst>
          </p:cNvPr>
          <p:cNvSpPr>
            <a:spLocks xmlns:a="http://schemas.openxmlformats.org/drawingml/2006/main" noGrp="1"/>
          </p:cNvSpPr>
          <p:nvPr/>
        </p:nvSpPr>
        <p:spPr>
          <a:xfrm xmlns:a="http://schemas.openxmlformats.org/drawingml/2006/main">
            <a:off x="609600" y="3438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506271"/>
                </a:solidFill>
                <a:latin typeface="Arial"/>
                <a:ea typeface="Arial"/>
                <a:cs typeface="Arial"/>
              </a:defRPr>
            </a:pPr>
            <a:r>
              <a:rPr sz="1950" b="1">
                <a:solidFill>
                  <a:srgbClr val="506271"/>
                </a:solidFill>
                <a:latin typeface="Arial"/>
                <a:ea typeface="Arial"/>
                <a:cs typeface="Arial"/>
              </a:rPr>
              <a:t>Original run</a:t>
            </a:r>
          </a:p>
        </p:txBody>
      </p:sp>
      <p:sp>
        <p:nvSpPr>
          <p:cNvPr id="5" name="">
            <a:extLst xmlns:a="http://schemas.openxmlformats.org/drawingml/2006/main">
              <a:ext uri="{FF2B5EF4-FFF2-40B4-BE49-F238E27FC236}">
                <a16:creationId xmlns:a16="http://schemas.microsoft.com/office/drawing/2014/main" id="{A42CBF38-996E-49CF-9A7E-6C169A872F88}"/>
              </a:ext>
            </a:extLst>
          </p:cNvPr>
          <p:cNvSpPr>
            <a:spLocks xmlns:a="http://schemas.openxmlformats.org/drawingml/2006/main" noGrp="1"/>
          </p:cNvSpPr>
          <p:nvPr/>
        </p:nvSpPr>
        <p:spPr>
          <a:xfrm xmlns:a="http://schemas.openxmlformats.org/drawingml/2006/main">
            <a:off x="609600" y="39052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E43"/>
                </a:solidFill>
                <a:latin typeface="Arial"/>
                <a:ea typeface="Arial"/>
                <a:cs typeface="Arial"/>
              </a:defRPr>
            </a:pPr>
            <a:r>
              <a:rPr sz="1950" b="0">
                <a:solidFill>
                  <a:srgbClr val="172E43"/>
                </a:solidFill>
                <a:latin typeface="Arial"/>
                <a:ea typeface="Arial"/>
                <a:cs typeface="Arial"/>
              </a:rPr>
              <a:t>runs/omega_Roman_007/omega_Roman_007.root</a:t>
            </a:r>
          </a:p>
          <a:p xmlns:a="http://schemas.openxmlformats.org/drawingml/2006/main">
            <a:pPr>
              <a:defRPr sz="1950" b="0">
                <a:solidFill>
                  <a:srgbClr val="172E43"/>
                </a:solidFill>
                <a:latin typeface="Arial"/>
                <a:ea typeface="Arial"/>
                <a:cs typeface="Arial"/>
              </a:defRPr>
            </a:pPr>
            <a:r>
              <a:rPr sz="1950" b="0">
                <a:solidFill>
                  <a:srgbClr val="172E43"/>
                </a:solidFill>
                <a:latin typeface="Arial"/>
                <a:ea typeface="Arial"/>
                <a:cs typeface="Arial"/>
              </a:rPr>
              <a:t>omega_Roman_007.hist and omega_Roman_007.inp</a:t>
            </a:r>
          </a:p>
        </p:txBody>
      </p:sp>
      <p:sp>
        <p:nvSpPr>
          <p:cNvPr id="6" name="">
            <a:extLst xmlns:a="http://schemas.openxmlformats.org/drawingml/2006/main">
              <a:ext uri="{FF2B5EF4-FFF2-40B4-BE49-F238E27FC236}">
                <a16:creationId xmlns:a16="http://schemas.microsoft.com/office/drawing/2014/main" id="{95B9840F-22BD-4AF9-9FAD-7A386F2CE382}"/>
              </a:ext>
            </a:extLst>
          </p:cNvPr>
          <p:cNvSpPr>
            <a:spLocks xmlns:a="http://schemas.openxmlformats.org/drawingml/2006/main" noGrp="1"/>
          </p:cNvSpPr>
          <p:nvPr/>
        </p:nvSpPr>
        <p:spPr>
          <a:xfrm xmlns:a="http://schemas.openxmlformats.org/drawingml/2006/main">
            <a:off x="609600" y="49530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506271"/>
                </a:solidFill>
                <a:latin typeface="Arial"/>
                <a:ea typeface="Arial"/>
                <a:cs typeface="Arial"/>
              </a:defRPr>
            </a:pPr>
            <a:r>
              <a:rPr sz="1950" b="1">
                <a:solidFill>
                  <a:srgbClr val="506271"/>
                </a:solidFill>
                <a:latin typeface="Arial"/>
                <a:ea typeface="Arial"/>
                <a:cs typeface="Arial"/>
              </a:rPr>
              <a:t>Calculation and audit</a:t>
            </a:r>
          </a:p>
        </p:txBody>
      </p:sp>
      <p:sp>
        <p:nvSpPr>
          <p:cNvPr id="7" name="">
            <a:extLst xmlns:a="http://schemas.openxmlformats.org/drawingml/2006/main">
              <a:ext uri="{FF2B5EF4-FFF2-40B4-BE49-F238E27FC236}">
                <a16:creationId xmlns:a16="http://schemas.microsoft.com/office/drawing/2014/main" id="{655F3E04-2618-46E8-BE85-3139D6E85F50}"/>
              </a:ext>
            </a:extLst>
          </p:cNvPr>
          <p:cNvSpPr>
            <a:spLocks xmlns:a="http://schemas.openxmlformats.org/drawingml/2006/main" noGrp="1"/>
          </p:cNvSpPr>
          <p:nvPr/>
        </p:nvSpPr>
        <p:spPr>
          <a:xfrm xmlns:a="http://schemas.openxmlformats.org/drawingml/2006/main">
            <a:off x="609600" y="54102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E43"/>
                </a:solidFill>
                <a:latin typeface="Arial"/>
                <a:ea typeface="Arial"/>
                <a:cs typeface="Arial"/>
              </a:defRPr>
            </a:pPr>
            <a:r>
              <a:rPr sz="1950" b="0">
                <a:solidFill>
                  <a:srgbClr val="172E43"/>
                </a:solidFill>
                <a:latin typeface="Arial"/>
                <a:ea typeface="Arial"/>
                <a:cs typeface="Arial"/>
              </a:rPr>
              <a:t>audit_omega_rate.py</a:t>
            </a:r>
          </a:p>
          <a:p xmlns:a="http://schemas.openxmlformats.org/drawingml/2006/main">
            <a:pPr>
              <a:defRPr sz="1950" b="0">
                <a:solidFill>
                  <a:srgbClr val="172E43"/>
                </a:solidFill>
                <a:latin typeface="Arial"/>
                <a:ea typeface="Arial"/>
                <a:cs typeface="Arial"/>
              </a:defRPr>
            </a:pPr>
            <a:r>
              <a:rPr sz="1950" b="0">
                <a:solidFill>
                  <a:srgbClr val="172E43"/>
                </a:solidFill>
                <a:latin typeface="Arial"/>
                <a:ea typeface="Arial"/>
                <a:cs typeface="Arial"/>
              </a:rPr>
              <a:t>omega_rate_audit_70uA_1h/summary.json</a:t>
            </a:r>
          </a:p>
        </p:txBody>
      </p:sp>
    </p:spTree>
    <p:extLst>
      <p:ext uri="{BB962C8B-B14F-4D97-AF65-F5344CB8AC3E}">
        <p14:creationId xmlns:p14="http://schemas.microsoft.com/office/powerpoint/2010/main" val="82522464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4D65740-EBAD-49DB-89F8-BA54D1E79BE5}"/>
              </a:ext>
            </a:extLst>
          </p:cNvPr>
          <p:cNvSpPr>
            <a:spLocks xmlns:a="http://schemas.openxmlformats.org/drawingml/2006/main" noGrp="1"/>
          </p:cNvSpPr>
          <p:nvPr/>
        </p:nvSpPr>
        <p:spPr>
          <a:xfrm xmlns:a="http://schemas.openxmlformats.org/drawingml/2006/main">
            <a:off x="609600" y="3810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E43"/>
                </a:solidFill>
                <a:latin typeface="Arial"/>
                <a:ea typeface="Arial"/>
                <a:cs typeface="Arial"/>
              </a:defRPr>
            </a:pPr>
            <a:r>
              <a:rPr sz="3225" b="1">
                <a:solidFill>
                  <a:srgbClr val="172E43"/>
                </a:solidFill>
                <a:latin typeface="Arial"/>
                <a:ea typeface="Arial"/>
                <a:cs typeface="Arial"/>
              </a:rPr>
              <a:t>Backup: Henry’s 44 fitted mass spectra</a:t>
            </a:r>
          </a:p>
        </p:txBody>
      </p:sp>
      <p:sp>
        <p:nvSpPr>
          <p:cNvPr id="2" name="">
            <a:extLst xmlns:a="http://schemas.openxmlformats.org/drawingml/2006/main">
              <a:ext uri="{FF2B5EF4-FFF2-40B4-BE49-F238E27FC236}">
                <a16:creationId xmlns:a16="http://schemas.microsoft.com/office/drawing/2014/main" id="{AC6B3F9E-8DD1-4443-9198-72585D3B585B}"/>
              </a:ext>
            </a:extLst>
          </p:cNvPr>
          <p:cNvSpPr>
            <a:spLocks xmlns:a="http://schemas.openxmlformats.org/drawingml/2006/main" noGrp="1"/>
          </p:cNvSpPr>
          <p:nvPr/>
        </p:nvSpPr>
        <p:spPr>
          <a:xfrm xmlns:a="http://schemas.openxmlformats.org/drawingml/2006/main">
            <a:off x="1108710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271"/>
                </a:solidFill>
                <a:latin typeface="Arial"/>
                <a:ea typeface="Arial"/>
                <a:cs typeface="Arial"/>
              </a:defRPr>
            </a:pPr>
            <a:r>
              <a:rPr sz="1275" b="0">
                <a:solidFill>
                  <a:srgbClr val="506271"/>
                </a:solidFill>
                <a:latin typeface="Arial"/>
                <a:ea typeface="Arial"/>
                <a:cs typeface="Arial"/>
              </a:rPr>
              <a:t>11</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c808195a4604b53"/>
          <a:stretch xmlns:a="http://schemas.openxmlformats.org/drawingml/2006/main"/>
        </p:blipFill>
        <p:spPr>
          <a:xfrm xmlns:a="http://schemas.openxmlformats.org/drawingml/2006/main">
            <a:off x="342900" y="1498444"/>
            <a:ext cx="11506200" cy="395636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E2E4B8F-5EA9-4EC9-9E1D-0ECC1B480672}"/>
              </a:ext>
            </a:extLst>
          </p:cNvPr>
          <p:cNvSpPr>
            <a:spLocks xmlns:a="http://schemas.openxmlformats.org/drawingml/2006/main" noGrp="1"/>
          </p:cNvSpPr>
          <p:nvPr/>
        </p:nvSpPr>
        <p:spPr>
          <a:xfrm xmlns:a="http://schemas.openxmlformats.org/drawingml/2006/main">
            <a:off x="609600" y="58102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5C95"/>
                </a:solidFill>
                <a:latin typeface="Arial"/>
                <a:ea typeface="Arial"/>
                <a:cs typeface="Arial"/>
              </a:defRPr>
            </a:pPr>
            <a:r>
              <a:rPr sz="2025" b="1">
                <a:solidFill>
                  <a:srgbClr val="155C95"/>
                </a:solidFill>
                <a:latin typeface="Arial"/>
                <a:ea typeface="Arial"/>
                <a:cs typeface="Arial"/>
              </a:rPr>
              <a:t>4 W intervals × 11 |t| intervals. Sum of rounded central yields: 50,292.</a:t>
            </a:r>
          </a:p>
        </p:txBody>
      </p:sp>
    </p:spTree>
    <p:extLst>
      <p:ext uri="{BB962C8B-B14F-4D97-AF65-F5344CB8AC3E}">
        <p14:creationId xmlns:p14="http://schemas.microsoft.com/office/powerpoint/2010/main" val="20822740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92DDD60-252D-42C4-B5F5-2FFFB7E551FC}"/>
              </a:ext>
            </a:extLst>
          </p:cNvPr>
          <p:cNvSpPr>
            <a:spLocks xmlns:a="http://schemas.openxmlformats.org/drawingml/2006/main" noGrp="1"/>
          </p:cNvSpPr>
          <p:nvPr/>
        </p:nvSpPr>
        <p:spPr>
          <a:xfrm xmlns:a="http://schemas.openxmlformats.org/drawingml/2006/main">
            <a:off x="609600" y="3810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E43"/>
                </a:solidFill>
                <a:latin typeface="Arial"/>
                <a:ea typeface="Arial"/>
                <a:cs typeface="Arial"/>
              </a:defRPr>
            </a:pPr>
            <a:r>
              <a:rPr sz="3225" b="1">
                <a:solidFill>
                  <a:srgbClr val="172E43"/>
                </a:solidFill>
                <a:latin typeface="Arial"/>
                <a:ea typeface="Arial"/>
                <a:cs typeface="Arial"/>
              </a:rPr>
              <a:t>Backup: cross-section projection</a:t>
            </a:r>
          </a:p>
        </p:txBody>
      </p:sp>
      <p:sp>
        <p:nvSpPr>
          <p:cNvPr id="2" name="">
            <a:extLst xmlns:a="http://schemas.openxmlformats.org/drawingml/2006/main">
              <a:ext uri="{FF2B5EF4-FFF2-40B4-BE49-F238E27FC236}">
                <a16:creationId xmlns:a16="http://schemas.microsoft.com/office/drawing/2014/main" id="{B330D0DD-5A9B-41BD-A6EF-01626270F0DC}"/>
              </a:ext>
            </a:extLst>
          </p:cNvPr>
          <p:cNvSpPr>
            <a:spLocks xmlns:a="http://schemas.openxmlformats.org/drawingml/2006/main" noGrp="1"/>
          </p:cNvSpPr>
          <p:nvPr/>
        </p:nvSpPr>
        <p:spPr>
          <a:xfrm xmlns:a="http://schemas.openxmlformats.org/drawingml/2006/main">
            <a:off x="1108710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271"/>
                </a:solidFill>
                <a:latin typeface="Arial"/>
                <a:ea typeface="Arial"/>
                <a:cs typeface="Arial"/>
              </a:defRPr>
            </a:pPr>
            <a:r>
              <a:rPr sz="1275" b="0">
                <a:solidFill>
                  <a:srgbClr val="506271"/>
                </a:solidFill>
                <a:latin typeface="Arial"/>
                <a:ea typeface="Arial"/>
                <a:cs typeface="Arial"/>
              </a:rPr>
              <a:t>12</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6d86cf93a72436b"/>
          <a:stretch xmlns:a="http://schemas.openxmlformats.org/drawingml/2006/main"/>
        </p:blipFill>
        <p:spPr>
          <a:xfrm xmlns:a="http://schemas.openxmlformats.org/drawingml/2006/main">
            <a:off x="634806" y="1371600"/>
            <a:ext cx="10922389" cy="44577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B8D1422-4F39-41F8-BE77-41C8CDCC9422}"/>
              </a:ext>
            </a:extLst>
          </p:cNvPr>
          <p:cNvSpPr>
            <a:spLocks xmlns:a="http://schemas.openxmlformats.org/drawingml/2006/main" noGrp="1"/>
          </p:cNvSpPr>
          <p:nvPr/>
        </p:nvSpPr>
        <p:spPr>
          <a:xfrm xmlns:a="http://schemas.openxmlformats.org/drawingml/2006/main">
            <a:off x="609600" y="591502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945419"/>
                </a:solidFill>
                <a:latin typeface="Arial"/>
                <a:ea typeface="Arial"/>
                <a:cs typeface="Arial"/>
              </a:defRPr>
            </a:pPr>
            <a:r>
              <a:rPr sz="1725" b="0">
                <a:solidFill>
                  <a:srgbClr val="945419"/>
                </a:solidFill>
                <a:latin typeface="Arial"/>
                <a:ea typeface="Arial"/>
                <a:cs typeface="Arial"/>
              </a:rPr>
              <a:t>The script sets central dσ/d|t| values with A exp(−5t).</a:t>
            </a:r>
          </a:p>
          <a:p xmlns:a="http://schemas.openxmlformats.org/drawingml/2006/main">
            <a:pPr>
              <a:defRPr sz="1725" b="0">
                <a:solidFill>
                  <a:srgbClr val="945419"/>
                </a:solidFill>
                <a:latin typeface="Arial"/>
                <a:ea typeface="Arial"/>
                <a:cs typeface="Arial"/>
              </a:defRPr>
            </a:pPr>
            <a:r>
              <a:rPr sz="1725" b="0">
                <a:solidFill>
                  <a:srgbClr val="945419"/>
                </a:solidFill>
                <a:latin typeface="Arial"/>
                <a:ea typeface="Arial"/>
                <a:cs typeface="Arial"/>
              </a:rPr>
              <a:t>Fitted yields determine the relative statistical uncertainty.</a:t>
            </a:r>
          </a:p>
        </p:txBody>
      </p:sp>
    </p:spTree>
    <p:extLst>
      <p:ext uri="{BB962C8B-B14F-4D97-AF65-F5344CB8AC3E}">
        <p14:creationId xmlns:p14="http://schemas.microsoft.com/office/powerpoint/2010/main" val="10328104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2026-09-28T17:16:46.1070000Z</dcterms:created>
  <dcterms:modified xsi:type="dcterms:W3CDTF">2026-09-28T17:16:46.1070000Z</dcterms:modified>
</coreProperties>
</file>